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radarChart>
        <c:radarStyle val="standard"/>
        <c:varyColors val="0"/>
        <c:ser>
          <c:idx val="0"/>
          <c:order val="0"/>
          <c:tx>
            <c:strRef>
              <c:f>Sheet1!$B$1</c:f>
              <c:strCache>
                <c:ptCount val="1"/>
                <c:pt idx="0">
                  <c:v>Current Score (%)</c:v>
                </c:pt>
              </c:strCache>
            </c:strRef>
          </c:tx>
          <c:spPr>
            <a:solidFill>
              <a:srgbClr val="028090"/>
            </a:solidFill>
            <a:ln w="25400" cap="flat">
              <a:solidFill>
                <a:srgbClr val="028090"/>
              </a:solidFill>
              <a:prstDash val="solid"/>
              <a:round/>
            </a:ln>
            <a:effectLst/>
          </c:spPr>
          <c:invertIfNegative val="0"/>
          <c:marker>
            <c:symbol val="circle"/>
            <c:size val="6"/>
            <c:spPr>
              <a:solidFill>
                <a:srgbClr val="028090"/>
              </a:solidFill>
              <a:ln w="9525" cap="flat">
                <a:solidFill>
                  <a:srgbClr val="028090"/>
                </a:solidFill>
                <a:prstDash val="solid"/>
                <a:round/>
              </a:ln>
              <a:effectLst/>
            </c:spPr>
          </c:marker>
          <c:cat>
            <c:multiLvlStrRef>
              <c:f>Sheet1!$A$2:$A$6</c:f>
              <c:multiLvlStrCache>
                <c:ptCount val="5"/>
                <c:lvl>
                  <c:pt idx="0">
                    <c:v>Strategy</c:v>
                  </c:pt>
                  <c:pt idx="1">
                    <c:v>Finance</c:v>
                  </c:pt>
                  <c:pt idx="2">
                    <c:v>Marketing</c:v>
                  </c:pt>
                  <c:pt idx="3">
                    <c:v>Operations</c:v>
                  </c:pt>
                  <c:pt idx="4">
                    <c:v>People Mgmt</c:v>
                  </c:pt>
                </c:lvl>
              </c:multiLvlStrCache>
            </c:multiLvlStrRef>
          </c:cat>
          <c:val>
            <c:numRef>
              <c:f>Sheet1!$B$2:$B$6</c:f>
              <c:numCache>
                <c:formatCode>General</c:formatCode>
                <c:ptCount val="5"/>
                <c:pt idx="0">
                  <c:v>38</c:v>
                </c:pt>
                <c:pt idx="1">
                  <c:v>31</c:v>
                </c:pt>
                <c:pt idx="2">
                  <c:v>38</c:v>
                </c:pt>
                <c:pt idx="3">
                  <c:v>44</c:v>
                </c:pt>
                <c:pt idx="4">
                  <c:v>19</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axId val="2094734554"/>
        <c:axId val="2094734552"/>
        <c:axId val="2094734556"/>
      </c:rad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defRPr>
          </a:pPr>
          <a:endParaRPr lang="en-US"/>
        </a:p>
      </c:txPr>
    </c:legend>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800" b="0" i="0" u="none" strike="noStrike">
                <a:solidFill>
                  <a:srgbClr val="000000"/>
                </a:solidFill>
                <a:latin typeface="Arial"/>
              </a:defRPr>
            </a:pPr>
            <a:r>
              <a:rPr sz="1800" b="0" i="0" u="none" strike="noStrike">
                <a:solidFill>
                  <a:srgbClr val="000000"/>
                </a:solidFill>
                <a:latin typeface="Arial"/>
              </a:rPr>
              <a:t>Projected Impact by Intervention — Estimated Improvement (%)</a:t>
            </a:r>
          </a:p>
        </c:rich>
      </c:tx>
      <c:layout/>
      <c:overlay val="0"/>
    </c:title>
    <c:autoTitleDeleted val="0"/>
    <c:plotArea>
      <c:layout/>
      <c:barChart>
        <c:barDir val="bar"/>
        <c:grouping val="clustered"/>
        <c:varyColors val="0"/>
        <c:ser>
          <c:idx val="0"/>
          <c:order val="0"/>
          <c:tx>
            <c:strRef>
              <c:f>Sheet1!$B$1</c:f>
              <c:strCache>
                <c:ptCount val="1"/>
                <c:pt idx="0">
                  <c:v>Conservative Estimate (%)</c:v>
                </c:pt>
              </c:strCache>
            </c:strRef>
          </c:tx>
          <c:spPr>
            <a:solidFill>
              <a:srgbClr val="028090"/>
            </a:solidFill>
            <a:effectLst/>
          </c:spPr>
          <c:invertIfNegative val="0"/>
          <c:dLbls>
            <c:numFmt formatCode="#,##0" sourceLinked="0"/>
            <c:txPr>
              <a:bodyPr/>
              <a:lstStyle/>
              <a:p>
                <a:pPr>
                  <a:defRPr b="0" i="0" strike="noStrike" sz="1200" u="none">
                    <a:solidFill>
                      <a:srgbClr val="1E293B"/>
                    </a:solidFill>
                    <a:latin typeface="Arial"/>
                  </a:defRPr>
                </a:pPr>
              </a:p>
            </c:txPr>
            <c:showLegendKey val="0"/>
            <c:showVal val="1"/>
            <c:showCatName val="0"/>
            <c:showSerName val="0"/>
            <c:showPercent val="0"/>
            <c:showBubbleSize val="0"/>
            <c:showLeaderLines val="0"/>
          </c:dLbls>
          <c:dPt>
            <c:idx val="0"/>
            <c:invertIfNegative val="0"/>
            <c:bubble3D val="0"/>
            <c:spPr>
              <a:solidFill>
                <a:srgbClr val="028090"/>
              </a:solidFill>
              <a:effectLst/>
            </c:spPr>
          </c:dPt>
          <c:dPt>
            <c:idx val="1"/>
            <c:invertIfNegative val="0"/>
            <c:bubble3D val="0"/>
            <c:spPr>
              <a:solidFill>
                <a:srgbClr val="02C39A"/>
              </a:solidFill>
              <a:effectLst/>
            </c:spPr>
          </c:dPt>
          <c:dPt>
            <c:idx val="2"/>
            <c:invertIfNegative val="0"/>
            <c:bubble3D val="0"/>
            <c:spPr>
              <a:solidFill>
                <a:srgbClr val="1C7293"/>
              </a:solidFill>
              <a:effectLst/>
            </c:spPr>
          </c:dPt>
          <c:dPt>
            <c:idx val="3"/>
            <c:invertIfNegative val="0"/>
            <c:bubble3D val="0"/>
            <c:spPr>
              <a:solidFill>
                <a:srgbClr val="065A82"/>
              </a:solidFill>
              <a:effectLst/>
            </c:spPr>
          </c:dPt>
          <c:dPt>
            <c:idx val="4"/>
            <c:invertIfNegative val="0"/>
            <c:bubble3D val="0"/>
            <c:spPr>
              <a:solidFill>
                <a:srgbClr val="02A699"/>
              </a:solidFill>
              <a:effectLst/>
            </c:spPr>
          </c:dPt>
          <c:cat>
            <c:multiLvlStrRef>
              <c:f>Sheet1!$A$2:$A$6</c:f>
              <c:multiLvlStrCache>
                <c:ptCount val="5"/>
                <c:lvl>
                  <c:pt idx="0">
                    <c:v>OKR Framework</c:v>
                  </c:pt>
                  <c:pt idx="1">
                    <c:v>Cash Flow Forecasting</c:v>
                  </c:pt>
                  <c:pt idx="2">
                    <c:v>Cost Rationalization</c:v>
                  </c:pt>
                  <c:pt idx="3">
                    <c:v>BI Dashboard</c:v>
                  </c:pt>
                  <c:pt idx="4">
                    <c:v>HR Process Design</c:v>
                  </c:pt>
                </c:lvl>
              </c:multiLvlStrCache>
            </c:multiLvlStrRef>
          </c:cat>
          <c:val>
            <c:numRef>
              <c:f>Sheet1!$B$2:$B$6</c:f>
              <c:numCache>
                <c:formatCode>General</c:formatCode>
                <c:ptCount val="5"/>
                <c:pt idx="0">
                  <c:v>23</c:v>
                </c:pt>
                <c:pt idx="1">
                  <c:v>18</c:v>
                </c:pt>
                <c:pt idx="2">
                  <c:v>15</c:v>
                </c:pt>
                <c:pt idx="3">
                  <c:v>25</c:v>
                </c:pt>
                <c:pt idx="4">
                  <c:v>14</c:v>
                </c:pt>
              </c:numCache>
            </c:numRef>
          </c:val>
        </c:ser>
        <c:dLbls>
          <c:numFmt formatCode="#,##0" sourceLinked="0"/>
          <c:txPr>
            <a:bodyPr/>
            <a:lstStyle/>
            <a:p>
              <a:pPr>
                <a:defRPr b="0" i="0" strike="noStrike" sz="1200" u="none">
                  <a:solidFill>
                    <a:srgbClr val="1E29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E293B"/>
                </a:solidFill>
                <a:latin typeface="Arial"/>
              </a:defRPr>
            </a:pPr>
            <a:endParaRPr lang="en-US"/>
          </a:p>
        </c:txPr>
        <c:crossAx val="2094734552"/>
        <c:crosses val="autoZero"/>
        <c:auto val="1"/>
        <c:lblAlgn val="ctr"/>
        <c:noMultiLvlLbl val="1"/>
      </c:catAx>
      <c:valAx>
        <c:axId val="2094734552"/>
        <c:scaling>
          <c:orientation val="minMax"/>
          <c:max val="40"/>
          <c:min val="0"/>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3E"/>
        </a:solidFill>
      </p:bgPr>
    </p:bg>
    <p:spTree>
      <p:nvGrpSpPr>
        <p:cNvPr id="1" name=""/>
        <p:cNvGrpSpPr/>
        <p:nvPr/>
      </p:nvGrpSpPr>
      <p:grpSpPr>
        <a:xfrm>
          <a:off x="0" y="0"/>
          <a:ext cx="0" cy="0"/>
          <a:chOff x="0" y="0"/>
          <a:chExt cx="0" cy="0"/>
        </a:xfrm>
      </p:grpSpPr>
      <p:sp>
        <p:nvSpPr>
          <p:cNvPr id="2" name="Shape 0"/>
          <p:cNvSpPr/>
          <p:nvPr/>
        </p:nvSpPr>
        <p:spPr>
          <a:xfrm>
            <a:off x="6217920" y="-1371600"/>
            <a:ext cx="5486400" cy="5486400"/>
          </a:xfrm>
          <a:prstGeom prst="ellipse">
            <a:avLst/>
          </a:prstGeom>
          <a:solidFill>
            <a:srgbClr val="028090">
              <a:alpha val="12000"/>
            </a:srgbClr>
          </a:solidFill>
          <a:ln w="12700">
            <a:solidFill>
              <a:srgbClr val="028090">
                <a:alpha val="12000"/>
              </a:srgbClr>
            </a:solidFill>
            <a:prstDash val="solid"/>
          </a:ln>
        </p:spPr>
      </p:sp>
      <p:sp>
        <p:nvSpPr>
          <p:cNvPr id="3" name="Shape 1"/>
          <p:cNvSpPr/>
          <p:nvPr/>
        </p:nvSpPr>
        <p:spPr>
          <a:xfrm>
            <a:off x="7498080" y="2743200"/>
            <a:ext cx="3200400" cy="3200400"/>
          </a:xfrm>
          <a:prstGeom prst="ellipse">
            <a:avLst/>
          </a:prstGeom>
          <a:solidFill>
            <a:srgbClr val="02C39A">
              <a:alpha val="16000"/>
            </a:srgbClr>
          </a:solidFill>
          <a:ln w="12700">
            <a:solidFill>
              <a:srgbClr val="02C39A">
                <a:alpha val="16000"/>
              </a:srgbClr>
            </a:solidFill>
            <a:prstDash val="solid"/>
          </a:ln>
        </p:spPr>
      </p:sp>
      <p:sp>
        <p:nvSpPr>
          <p:cNvPr id="4" name="Text 2"/>
          <p:cNvSpPr/>
          <p:nvPr/>
        </p:nvSpPr>
        <p:spPr>
          <a:xfrm>
            <a:off x="502920" y="685800"/>
            <a:ext cx="7315200" cy="320040"/>
          </a:xfrm>
          <a:prstGeom prst="rect">
            <a:avLst/>
          </a:prstGeom>
          <a:noFill/>
          <a:ln/>
        </p:spPr>
        <p:txBody>
          <a:bodyPr wrap="square" lIns="0" tIns="0" rIns="0" bIns="0" rtlCol="0" anchor="ctr"/>
          <a:lstStyle/>
          <a:p>
            <a:pPr indent="0" marL="0">
              <a:buNone/>
            </a:pPr>
            <a:r>
              <a:rPr lang="en-US" sz="1000" b="1" spc="400" kern="0" dirty="0">
                <a:solidFill>
                  <a:srgbClr val="02C39A"/>
                </a:solidFill>
              </a:rPr>
              <a:t>APPLIED ANALYTICS  ·  BUSINESS INTELLIGENCE</a:t>
            </a:r>
            <a:endParaRPr lang="en-US" sz="1000" dirty="0"/>
          </a:p>
        </p:txBody>
      </p:sp>
      <p:sp>
        <p:nvSpPr>
          <p:cNvPr id="5" name="Text 3"/>
          <p:cNvSpPr/>
          <p:nvPr/>
        </p:nvSpPr>
        <p:spPr>
          <a:xfrm>
            <a:off x="502920" y="1051560"/>
            <a:ext cx="7772400" cy="1737360"/>
          </a:xfrm>
          <a:prstGeom prst="rect">
            <a:avLst/>
          </a:prstGeom>
          <a:noFill/>
          <a:ln/>
        </p:spPr>
        <p:txBody>
          <a:bodyPr wrap="square" lIns="0" tIns="0" rIns="0" bIns="0" rtlCol="0" anchor="ctr"/>
          <a:lstStyle/>
          <a:p>
            <a:pPr indent="0" marL="0">
              <a:buNone/>
            </a:pPr>
            <a:r>
              <a:rPr lang="en-US" sz="3800" b="1" dirty="0">
                <a:solidFill>
                  <a:srgbClr val="FFFFFF"/>
                </a:solidFill>
              </a:rPr>
              <a:t>Business Diagnostics</a:t>
            </a:r>
            <a:endParaRPr lang="en-US" sz="3800" dirty="0"/>
          </a:p>
          <a:p>
            <a:pPr indent="0" marL="0">
              <a:buNone/>
            </a:pPr>
            <a:r>
              <a:rPr lang="en-US" sz="3800" b="1" dirty="0">
                <a:solidFill>
                  <a:srgbClr val="FFFFFF"/>
                </a:solidFill>
              </a:rPr>
              <a:t>Meets Applied Analytics</a:t>
            </a:r>
            <a:endParaRPr lang="en-US" sz="3800" dirty="0"/>
          </a:p>
        </p:txBody>
      </p:sp>
      <p:sp>
        <p:nvSpPr>
          <p:cNvPr id="6" name="Text 4"/>
          <p:cNvSpPr/>
          <p:nvPr/>
        </p:nvSpPr>
        <p:spPr>
          <a:xfrm>
            <a:off x="502920" y="2834640"/>
            <a:ext cx="7772400" cy="502920"/>
          </a:xfrm>
          <a:prstGeom prst="rect">
            <a:avLst/>
          </a:prstGeom>
          <a:noFill/>
          <a:ln/>
        </p:spPr>
        <p:txBody>
          <a:bodyPr wrap="square" lIns="0" tIns="0" rIns="0" bIns="0" rtlCol="0" anchor="ctr"/>
          <a:lstStyle/>
          <a:p>
            <a:pPr indent="0" marL="0">
              <a:buNone/>
            </a:pPr>
            <a:r>
              <a:rPr lang="en-US" sz="1600" i="1" dirty="0">
                <a:solidFill>
                  <a:srgbClr val="AACDD6"/>
                </a:solidFill>
              </a:rPr>
              <a:t>Turning Operational Data into Strategic Intelligence</a:t>
            </a:r>
            <a:endParaRPr lang="en-US" sz="1600" dirty="0"/>
          </a:p>
        </p:txBody>
      </p:sp>
      <p:sp>
        <p:nvSpPr>
          <p:cNvPr id="7" name="Shape 5"/>
          <p:cNvSpPr/>
          <p:nvPr/>
        </p:nvSpPr>
        <p:spPr>
          <a:xfrm>
            <a:off x="502920" y="3456432"/>
            <a:ext cx="3474720" cy="36576"/>
          </a:xfrm>
          <a:prstGeom prst="rect">
            <a:avLst/>
          </a:prstGeom>
          <a:solidFill>
            <a:srgbClr val="028090"/>
          </a:solidFill>
          <a:ln w="12700">
            <a:solidFill>
              <a:srgbClr val="028090"/>
            </a:solidFill>
            <a:prstDash val="solid"/>
          </a:ln>
        </p:spPr>
      </p:sp>
      <p:sp>
        <p:nvSpPr>
          <p:cNvPr id="8" name="Text 6"/>
          <p:cNvSpPr/>
          <p:nvPr/>
        </p:nvSpPr>
        <p:spPr>
          <a:xfrm>
            <a:off x="502920" y="3611880"/>
            <a:ext cx="7772400" cy="685800"/>
          </a:xfrm>
          <a:prstGeom prst="rect">
            <a:avLst/>
          </a:prstGeom>
          <a:noFill/>
          <a:ln/>
        </p:spPr>
        <p:txBody>
          <a:bodyPr wrap="square" lIns="0" tIns="0" rIns="0" bIns="0" rtlCol="0" anchor="ctr"/>
          <a:lstStyle/>
          <a:p>
            <a:pPr indent="0" marL="0">
              <a:buNone/>
            </a:pPr>
            <a:r>
              <a:rPr lang="en-US" sz="1200" dirty="0">
                <a:solidFill>
                  <a:srgbClr val="8EAFC2"/>
                </a:solidFill>
              </a:rPr>
              <a:t>A case study on multidimensional organizational maturity analysis</a:t>
            </a:r>
            <a:endParaRPr lang="en-US" sz="1200" dirty="0"/>
          </a:p>
          <a:p>
            <a:pPr indent="0" marL="0">
              <a:buNone/>
            </a:pPr>
            <a:r>
              <a:rPr lang="en-US" sz="1200" dirty="0">
                <a:solidFill>
                  <a:srgbClr val="8EAFC2"/>
                </a:solidFill>
              </a:rPr>
              <a:t>using Python · Power BI · K-Means Clustering · Gap Analysis</a:t>
            </a:r>
            <a:endParaRPr lang="en-US" sz="1200" dirty="0"/>
          </a:p>
        </p:txBody>
      </p:sp>
      <p:sp>
        <p:nvSpPr>
          <p:cNvPr id="9" name="Text 7"/>
          <p:cNvSpPr/>
          <p:nvPr/>
        </p:nvSpPr>
        <p:spPr>
          <a:xfrm>
            <a:off x="502920" y="4663440"/>
            <a:ext cx="8229600" cy="274320"/>
          </a:xfrm>
          <a:prstGeom prst="rect">
            <a:avLst/>
          </a:prstGeom>
          <a:noFill/>
          <a:ln/>
        </p:spPr>
        <p:txBody>
          <a:bodyPr wrap="square" lIns="0" tIns="0" rIns="0" bIns="0" rtlCol="0" anchor="ctr"/>
          <a:lstStyle/>
          <a:p>
            <a:pPr indent="0" marL="0">
              <a:buNone/>
            </a:pPr>
            <a:r>
              <a:rPr lang="en-US" sz="1000" dirty="0">
                <a:solidFill>
                  <a:srgbClr val="64748B"/>
                </a:solidFill>
              </a:rPr>
              <a:t>Brazilian Licensed Accountant (CRC/CFC)  ·  Master's Student in Big Data Analytics  ·  May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657600" cy="5143500"/>
          </a:xfrm>
          <a:prstGeom prst="rect">
            <a:avLst/>
          </a:prstGeom>
          <a:solidFill>
            <a:srgbClr val="0D1B3E"/>
          </a:solidFill>
          <a:ln w="12700">
            <a:solidFill>
              <a:srgbClr val="0D1B3E"/>
            </a:solidFill>
            <a:prstDash val="solid"/>
          </a:ln>
        </p:spPr>
      </p:sp>
      <p:sp>
        <p:nvSpPr>
          <p:cNvPr id="3" name="Text 1"/>
          <p:cNvSpPr/>
          <p:nvPr/>
        </p:nvSpPr>
        <p:spPr>
          <a:xfrm>
            <a:off x="274320" y="457200"/>
            <a:ext cx="3108960" cy="1097280"/>
          </a:xfrm>
          <a:prstGeom prst="rect">
            <a:avLst/>
          </a:prstGeom>
          <a:noFill/>
          <a:ln/>
        </p:spPr>
        <p:txBody>
          <a:bodyPr wrap="square" lIns="0" tIns="0" rIns="0" bIns="0" rtlCol="0" anchor="ctr"/>
          <a:lstStyle/>
          <a:p>
            <a:pPr indent="0" marL="0">
              <a:buNone/>
            </a:pPr>
            <a:r>
              <a:rPr lang="en-US" sz="2800" b="1" dirty="0">
                <a:solidFill>
                  <a:srgbClr val="FFFFFF"/>
                </a:solidFill>
              </a:rPr>
              <a:t>PROJECT</a:t>
            </a:r>
            <a:endParaRPr lang="en-US" sz="2800" dirty="0"/>
          </a:p>
          <a:p>
            <a:pPr indent="0" marL="0">
              <a:buNone/>
            </a:pPr>
            <a:r>
              <a:rPr lang="en-US" sz="2800" b="1" dirty="0">
                <a:solidFill>
                  <a:srgbClr val="FFFFFF"/>
                </a:solidFill>
              </a:rPr>
              <a:t>CONTEXT</a:t>
            </a:r>
            <a:endParaRPr lang="en-US" sz="2800" dirty="0"/>
          </a:p>
        </p:txBody>
      </p:sp>
      <p:sp>
        <p:nvSpPr>
          <p:cNvPr id="4" name="Shape 2"/>
          <p:cNvSpPr/>
          <p:nvPr/>
        </p:nvSpPr>
        <p:spPr>
          <a:xfrm>
            <a:off x="274320" y="1600200"/>
            <a:ext cx="2560320" cy="36576"/>
          </a:xfrm>
          <a:prstGeom prst="rect">
            <a:avLst/>
          </a:prstGeom>
          <a:solidFill>
            <a:srgbClr val="02C39A"/>
          </a:solidFill>
          <a:ln w="12700">
            <a:solidFill>
              <a:srgbClr val="02C39A"/>
            </a:solidFill>
            <a:prstDash val="solid"/>
          </a:ln>
        </p:spPr>
      </p:sp>
      <p:sp>
        <p:nvSpPr>
          <p:cNvPr id="5" name="Text 3"/>
          <p:cNvSpPr/>
          <p:nvPr/>
        </p:nvSpPr>
        <p:spPr>
          <a:xfrm>
            <a:off x="274320" y="1783080"/>
            <a:ext cx="3108960" cy="914400"/>
          </a:xfrm>
          <a:prstGeom prst="rect">
            <a:avLst/>
          </a:prstGeom>
          <a:noFill/>
          <a:ln/>
        </p:spPr>
        <p:txBody>
          <a:bodyPr wrap="square" lIns="0" tIns="0" rIns="0" bIns="0" rtlCol="0" anchor="ctr"/>
          <a:lstStyle/>
          <a:p>
            <a:pPr indent="0" marL="0">
              <a:buNone/>
            </a:pPr>
            <a:r>
              <a:rPr lang="en-US" sz="1100" dirty="0">
                <a:solidFill>
                  <a:srgbClr val="AACDD6"/>
                </a:solidFill>
              </a:rPr>
              <a:t>This anonymized case study shows how business diagnostics can be translated into structured analytical intelligence.</a:t>
            </a:r>
            <a:endParaRPr lang="en-US" sz="1100" dirty="0"/>
          </a:p>
        </p:txBody>
      </p:sp>
      <p:sp>
        <p:nvSpPr>
          <p:cNvPr id="6" name="Text 4"/>
          <p:cNvSpPr/>
          <p:nvPr/>
        </p:nvSpPr>
        <p:spPr>
          <a:xfrm>
            <a:off x="274320" y="2743200"/>
            <a:ext cx="3108960" cy="914400"/>
          </a:xfrm>
          <a:prstGeom prst="rect">
            <a:avLst/>
          </a:prstGeom>
          <a:noFill/>
          <a:ln/>
        </p:spPr>
        <p:txBody>
          <a:bodyPr wrap="square" lIns="0" tIns="0" rIns="0" bIns="0" rtlCol="0" anchor="ctr"/>
          <a:lstStyle/>
          <a:p>
            <a:pPr indent="0" marL="0">
              <a:buNone/>
            </a:pPr>
            <a:r>
              <a:rPr lang="en-US" sz="1100" dirty="0">
                <a:solidFill>
                  <a:srgbClr val="8EAFC2"/>
                </a:solidFill>
              </a:rPr>
              <a:t>An organizational maturity framework was applied across 5 business dimensions, transforming field data into actionable insights.</a:t>
            </a:r>
            <a:endParaRPr lang="en-US" sz="1100" dirty="0"/>
          </a:p>
        </p:txBody>
      </p:sp>
      <p:sp>
        <p:nvSpPr>
          <p:cNvPr id="7" name="Text 5"/>
          <p:cNvSpPr/>
          <p:nvPr/>
        </p:nvSpPr>
        <p:spPr>
          <a:xfrm>
            <a:off x="274320" y="3794760"/>
            <a:ext cx="3108960" cy="731520"/>
          </a:xfrm>
          <a:prstGeom prst="rect">
            <a:avLst/>
          </a:prstGeom>
          <a:noFill/>
          <a:ln/>
        </p:spPr>
        <p:txBody>
          <a:bodyPr wrap="square" lIns="0" tIns="0" rIns="0" bIns="0" rtlCol="0" anchor="ctr"/>
          <a:lstStyle/>
          <a:p>
            <a:pPr indent="0" marL="0">
              <a:buNone/>
            </a:pPr>
            <a:r>
              <a:rPr lang="en-US" sz="1000" i="1" dirty="0">
                <a:solidFill>
                  <a:srgbClr val="64748B"/>
                </a:solidFill>
              </a:rPr>
              <a:t>Developed as an Applied Analytics / BI project aligned with Big Data Analytics studies.</a:t>
            </a:r>
            <a:endParaRPr lang="en-US" sz="1000" dirty="0"/>
          </a:p>
        </p:txBody>
      </p:sp>
      <p:sp>
        <p:nvSpPr>
          <p:cNvPr id="8" name="Text 6"/>
          <p:cNvSpPr/>
          <p:nvPr/>
        </p:nvSpPr>
        <p:spPr>
          <a:xfrm>
            <a:off x="3931920" y="365760"/>
            <a:ext cx="4937760" cy="411480"/>
          </a:xfrm>
          <a:prstGeom prst="rect">
            <a:avLst/>
          </a:prstGeom>
          <a:noFill/>
          <a:ln/>
        </p:spPr>
        <p:txBody>
          <a:bodyPr wrap="square" lIns="0" tIns="0" rIns="0" bIns="0" rtlCol="0" anchor="ctr"/>
          <a:lstStyle/>
          <a:p>
            <a:pPr indent="0" marL="0">
              <a:buNone/>
            </a:pPr>
            <a:r>
              <a:rPr lang="en-US" sz="1400" b="1" dirty="0">
                <a:solidFill>
                  <a:srgbClr val="0D1B3E"/>
                </a:solidFill>
              </a:rPr>
              <a:t>DATA SOURCES &amp; STRUCTURE</a:t>
            </a:r>
            <a:endParaRPr lang="en-US" sz="1400" dirty="0"/>
          </a:p>
        </p:txBody>
      </p:sp>
      <p:sp>
        <p:nvSpPr>
          <p:cNvPr id="9" name="Shape 7"/>
          <p:cNvSpPr/>
          <p:nvPr/>
        </p:nvSpPr>
        <p:spPr>
          <a:xfrm>
            <a:off x="3931920" y="914400"/>
            <a:ext cx="4937760" cy="932688"/>
          </a:xfrm>
          <a:prstGeom prst="rect">
            <a:avLst/>
          </a:prstGeom>
          <a:solidFill>
            <a:srgbClr val="F5F9FA"/>
          </a:solidFill>
          <a:ln w="12700">
            <a:solidFill>
              <a:srgbClr val="E2E8F0"/>
            </a:solidFill>
            <a:prstDash val="solid"/>
          </a:ln>
        </p:spPr>
      </p:sp>
      <p:sp>
        <p:nvSpPr>
          <p:cNvPr id="10" name="Shape 8"/>
          <p:cNvSpPr/>
          <p:nvPr/>
        </p:nvSpPr>
        <p:spPr>
          <a:xfrm>
            <a:off x="3931920" y="914400"/>
            <a:ext cx="54864" cy="932688"/>
          </a:xfrm>
          <a:prstGeom prst="rect">
            <a:avLst/>
          </a:prstGeom>
          <a:solidFill>
            <a:srgbClr val="028090"/>
          </a:solidFill>
          <a:ln w="12700">
            <a:solidFill>
              <a:srgbClr val="028090"/>
            </a:solidFill>
            <a:prstDash val="solid"/>
          </a:ln>
        </p:spPr>
      </p:sp>
      <p:sp>
        <p:nvSpPr>
          <p:cNvPr id="11" name="Text 9"/>
          <p:cNvSpPr/>
          <p:nvPr/>
        </p:nvSpPr>
        <p:spPr>
          <a:xfrm>
            <a:off x="4041648" y="960120"/>
            <a:ext cx="457200" cy="347472"/>
          </a:xfrm>
          <a:prstGeom prst="rect">
            <a:avLst/>
          </a:prstGeom>
          <a:noFill/>
          <a:ln/>
        </p:spPr>
        <p:txBody>
          <a:bodyPr wrap="square" lIns="0" tIns="0" rIns="0" bIns="0" rtlCol="0" anchor="ctr"/>
          <a:lstStyle/>
          <a:p>
            <a:pPr indent="0" marL="0">
              <a:buNone/>
            </a:pPr>
            <a:r>
              <a:rPr lang="en-US" sz="1600" b="1" dirty="0">
                <a:solidFill>
                  <a:srgbClr val="028090"/>
                </a:solidFill>
              </a:rPr>
              <a:t>①</a:t>
            </a:r>
            <a:endParaRPr lang="en-US" sz="1600" dirty="0"/>
          </a:p>
        </p:txBody>
      </p:sp>
      <p:sp>
        <p:nvSpPr>
          <p:cNvPr id="12" name="Text 10"/>
          <p:cNvSpPr/>
          <p:nvPr/>
        </p:nvSpPr>
        <p:spPr>
          <a:xfrm>
            <a:off x="4526280" y="987552"/>
            <a:ext cx="4206240" cy="274320"/>
          </a:xfrm>
          <a:prstGeom prst="rect">
            <a:avLst/>
          </a:prstGeom>
          <a:noFill/>
          <a:ln/>
        </p:spPr>
        <p:txBody>
          <a:bodyPr wrap="square" lIns="0" tIns="0" rIns="0" bIns="0" rtlCol="0" anchor="ctr"/>
          <a:lstStyle/>
          <a:p>
            <a:pPr indent="0" marL="0">
              <a:buNone/>
            </a:pPr>
            <a:r>
              <a:rPr lang="en-US" sz="1200" b="1" dirty="0">
                <a:solidFill>
                  <a:srgbClr val="1E293B"/>
                </a:solidFill>
              </a:rPr>
              <a:t>Structured Interviews</a:t>
            </a:r>
            <a:endParaRPr lang="en-US" sz="1200" dirty="0"/>
          </a:p>
        </p:txBody>
      </p:sp>
      <p:sp>
        <p:nvSpPr>
          <p:cNvPr id="13" name="Text 11"/>
          <p:cNvSpPr/>
          <p:nvPr/>
        </p:nvSpPr>
        <p:spPr>
          <a:xfrm>
            <a:off x="4526280" y="1298448"/>
            <a:ext cx="4206240" cy="457200"/>
          </a:xfrm>
          <a:prstGeom prst="rect">
            <a:avLst/>
          </a:prstGeom>
          <a:noFill/>
          <a:ln/>
        </p:spPr>
        <p:txBody>
          <a:bodyPr wrap="square" lIns="0" tIns="0" rIns="0" bIns="0" rtlCol="0" anchor="ctr"/>
          <a:lstStyle/>
          <a:p>
            <a:pPr indent="0" marL="0">
              <a:buNone/>
            </a:pPr>
            <a:r>
              <a:rPr lang="en-US" sz="1000" dirty="0">
                <a:solidFill>
                  <a:srgbClr val="64748B"/>
                </a:solidFill>
              </a:rPr>
              <a:t>Scored 0–100% per business dimension, 9 core analytical variables</a:t>
            </a:r>
            <a:endParaRPr lang="en-US" sz="1000" dirty="0"/>
          </a:p>
        </p:txBody>
      </p:sp>
      <p:sp>
        <p:nvSpPr>
          <p:cNvPr id="14" name="Shape 12"/>
          <p:cNvSpPr/>
          <p:nvPr/>
        </p:nvSpPr>
        <p:spPr>
          <a:xfrm>
            <a:off x="3931920" y="1965960"/>
            <a:ext cx="4937760" cy="932688"/>
          </a:xfrm>
          <a:prstGeom prst="rect">
            <a:avLst/>
          </a:prstGeom>
          <a:solidFill>
            <a:srgbClr val="F5F9FA"/>
          </a:solidFill>
          <a:ln w="12700">
            <a:solidFill>
              <a:srgbClr val="E2E8F0"/>
            </a:solidFill>
            <a:prstDash val="solid"/>
          </a:ln>
        </p:spPr>
      </p:sp>
      <p:sp>
        <p:nvSpPr>
          <p:cNvPr id="15" name="Shape 13"/>
          <p:cNvSpPr/>
          <p:nvPr/>
        </p:nvSpPr>
        <p:spPr>
          <a:xfrm>
            <a:off x="3931920" y="1965960"/>
            <a:ext cx="54864" cy="932688"/>
          </a:xfrm>
          <a:prstGeom prst="rect">
            <a:avLst/>
          </a:prstGeom>
          <a:solidFill>
            <a:srgbClr val="028090"/>
          </a:solidFill>
          <a:ln w="12700">
            <a:solidFill>
              <a:srgbClr val="028090"/>
            </a:solidFill>
            <a:prstDash val="solid"/>
          </a:ln>
        </p:spPr>
      </p:sp>
      <p:sp>
        <p:nvSpPr>
          <p:cNvPr id="16" name="Text 14"/>
          <p:cNvSpPr/>
          <p:nvPr/>
        </p:nvSpPr>
        <p:spPr>
          <a:xfrm>
            <a:off x="4041648" y="2011680"/>
            <a:ext cx="457200" cy="347472"/>
          </a:xfrm>
          <a:prstGeom prst="rect">
            <a:avLst/>
          </a:prstGeom>
          <a:noFill/>
          <a:ln/>
        </p:spPr>
        <p:txBody>
          <a:bodyPr wrap="square" lIns="0" tIns="0" rIns="0" bIns="0" rtlCol="0" anchor="ctr"/>
          <a:lstStyle/>
          <a:p>
            <a:pPr indent="0" marL="0">
              <a:buNone/>
            </a:pPr>
            <a:r>
              <a:rPr lang="en-US" sz="1600" b="1" dirty="0">
                <a:solidFill>
                  <a:srgbClr val="028090"/>
                </a:solidFill>
              </a:rPr>
              <a:t>②</a:t>
            </a:r>
            <a:endParaRPr lang="en-US" sz="1600" dirty="0"/>
          </a:p>
        </p:txBody>
      </p:sp>
      <p:sp>
        <p:nvSpPr>
          <p:cNvPr id="17" name="Text 15"/>
          <p:cNvSpPr/>
          <p:nvPr/>
        </p:nvSpPr>
        <p:spPr>
          <a:xfrm>
            <a:off x="4526280" y="2039112"/>
            <a:ext cx="4206240" cy="274320"/>
          </a:xfrm>
          <a:prstGeom prst="rect">
            <a:avLst/>
          </a:prstGeom>
          <a:noFill/>
          <a:ln/>
        </p:spPr>
        <p:txBody>
          <a:bodyPr wrap="square" lIns="0" tIns="0" rIns="0" bIns="0" rtlCol="0" anchor="ctr"/>
          <a:lstStyle/>
          <a:p>
            <a:pPr indent="0" marL="0">
              <a:buNone/>
            </a:pPr>
            <a:r>
              <a:rPr lang="en-US" sz="1200" b="1" dirty="0">
                <a:solidFill>
                  <a:srgbClr val="1E293B"/>
                </a:solidFill>
              </a:rPr>
              <a:t>Document Analysis</a:t>
            </a:r>
            <a:endParaRPr lang="en-US" sz="1200" dirty="0"/>
          </a:p>
        </p:txBody>
      </p:sp>
      <p:sp>
        <p:nvSpPr>
          <p:cNvPr id="18" name="Text 16"/>
          <p:cNvSpPr/>
          <p:nvPr/>
        </p:nvSpPr>
        <p:spPr>
          <a:xfrm>
            <a:off x="4526280" y="2350008"/>
            <a:ext cx="4206240" cy="457200"/>
          </a:xfrm>
          <a:prstGeom prst="rect">
            <a:avLst/>
          </a:prstGeom>
          <a:noFill/>
          <a:ln/>
        </p:spPr>
        <p:txBody>
          <a:bodyPr wrap="square" lIns="0" tIns="0" rIns="0" bIns="0" rtlCol="0" anchor="ctr"/>
          <a:lstStyle/>
          <a:p>
            <a:pPr indent="0" marL="0">
              <a:buNone/>
            </a:pPr>
            <a:r>
              <a:rPr lang="en-US" sz="1000" dirty="0">
                <a:solidFill>
                  <a:srgbClr val="64748B"/>
                </a:solidFill>
              </a:rPr>
              <a:t>Financial records, cost distribution, fixed costs, liquidity indicators</a:t>
            </a:r>
            <a:endParaRPr lang="en-US" sz="1000" dirty="0"/>
          </a:p>
        </p:txBody>
      </p:sp>
      <p:sp>
        <p:nvSpPr>
          <p:cNvPr id="19" name="Shape 17"/>
          <p:cNvSpPr/>
          <p:nvPr/>
        </p:nvSpPr>
        <p:spPr>
          <a:xfrm>
            <a:off x="3931920" y="3017520"/>
            <a:ext cx="4937760" cy="932688"/>
          </a:xfrm>
          <a:prstGeom prst="rect">
            <a:avLst/>
          </a:prstGeom>
          <a:solidFill>
            <a:srgbClr val="F5F9FA"/>
          </a:solidFill>
          <a:ln w="12700">
            <a:solidFill>
              <a:srgbClr val="E2E8F0"/>
            </a:solidFill>
            <a:prstDash val="solid"/>
          </a:ln>
        </p:spPr>
      </p:sp>
      <p:sp>
        <p:nvSpPr>
          <p:cNvPr id="20" name="Shape 18"/>
          <p:cNvSpPr/>
          <p:nvPr/>
        </p:nvSpPr>
        <p:spPr>
          <a:xfrm>
            <a:off x="3931920" y="3017520"/>
            <a:ext cx="54864" cy="932688"/>
          </a:xfrm>
          <a:prstGeom prst="rect">
            <a:avLst/>
          </a:prstGeom>
          <a:solidFill>
            <a:srgbClr val="028090"/>
          </a:solidFill>
          <a:ln w="12700">
            <a:solidFill>
              <a:srgbClr val="028090"/>
            </a:solidFill>
            <a:prstDash val="solid"/>
          </a:ln>
        </p:spPr>
      </p:sp>
      <p:sp>
        <p:nvSpPr>
          <p:cNvPr id="21" name="Text 19"/>
          <p:cNvSpPr/>
          <p:nvPr/>
        </p:nvSpPr>
        <p:spPr>
          <a:xfrm>
            <a:off x="4041648" y="3063240"/>
            <a:ext cx="457200" cy="347472"/>
          </a:xfrm>
          <a:prstGeom prst="rect">
            <a:avLst/>
          </a:prstGeom>
          <a:noFill/>
          <a:ln/>
        </p:spPr>
        <p:txBody>
          <a:bodyPr wrap="square" lIns="0" tIns="0" rIns="0" bIns="0" rtlCol="0" anchor="ctr"/>
          <a:lstStyle/>
          <a:p>
            <a:pPr indent="0" marL="0">
              <a:buNone/>
            </a:pPr>
            <a:r>
              <a:rPr lang="en-US" sz="1600" b="1" dirty="0">
                <a:solidFill>
                  <a:srgbClr val="028090"/>
                </a:solidFill>
              </a:rPr>
              <a:t>③</a:t>
            </a:r>
            <a:endParaRPr lang="en-US" sz="1600" dirty="0"/>
          </a:p>
        </p:txBody>
      </p:sp>
      <p:sp>
        <p:nvSpPr>
          <p:cNvPr id="22" name="Text 20"/>
          <p:cNvSpPr/>
          <p:nvPr/>
        </p:nvSpPr>
        <p:spPr>
          <a:xfrm>
            <a:off x="4526280" y="3090672"/>
            <a:ext cx="4206240" cy="274320"/>
          </a:xfrm>
          <a:prstGeom prst="rect">
            <a:avLst/>
          </a:prstGeom>
          <a:noFill/>
          <a:ln/>
        </p:spPr>
        <p:txBody>
          <a:bodyPr wrap="square" lIns="0" tIns="0" rIns="0" bIns="0" rtlCol="0" anchor="ctr"/>
          <a:lstStyle/>
          <a:p>
            <a:pPr indent="0" marL="0">
              <a:buNone/>
            </a:pPr>
            <a:r>
              <a:rPr lang="en-US" sz="1200" b="1" dirty="0">
                <a:solidFill>
                  <a:srgbClr val="1E293B"/>
                </a:solidFill>
              </a:rPr>
              <a:t>Direct Observation</a:t>
            </a:r>
            <a:endParaRPr lang="en-US" sz="1200" dirty="0"/>
          </a:p>
        </p:txBody>
      </p:sp>
      <p:sp>
        <p:nvSpPr>
          <p:cNvPr id="23" name="Text 21"/>
          <p:cNvSpPr/>
          <p:nvPr/>
        </p:nvSpPr>
        <p:spPr>
          <a:xfrm>
            <a:off x="4526280" y="3401568"/>
            <a:ext cx="4206240" cy="457200"/>
          </a:xfrm>
          <a:prstGeom prst="rect">
            <a:avLst/>
          </a:prstGeom>
          <a:noFill/>
          <a:ln/>
        </p:spPr>
        <p:txBody>
          <a:bodyPr wrap="square" lIns="0" tIns="0" rIns="0" bIns="0" rtlCol="0" anchor="ctr"/>
          <a:lstStyle/>
          <a:p>
            <a:pPr indent="0" marL="0">
              <a:buNone/>
            </a:pPr>
            <a:r>
              <a:rPr lang="en-US" sz="1000" dirty="0">
                <a:solidFill>
                  <a:srgbClr val="64748B"/>
                </a:solidFill>
              </a:rPr>
              <a:t>Operational workflows mapped and encoded for analytical compatibility</a:t>
            </a:r>
            <a:endParaRPr lang="en-US" sz="1000" dirty="0"/>
          </a:p>
        </p:txBody>
      </p:sp>
      <p:sp>
        <p:nvSpPr>
          <p:cNvPr id="24" name="Shape 22"/>
          <p:cNvSpPr/>
          <p:nvPr/>
        </p:nvSpPr>
        <p:spPr>
          <a:xfrm>
            <a:off x="3931920" y="4069080"/>
            <a:ext cx="4937760" cy="932688"/>
          </a:xfrm>
          <a:prstGeom prst="rect">
            <a:avLst/>
          </a:prstGeom>
          <a:solidFill>
            <a:srgbClr val="F5F9FA"/>
          </a:solidFill>
          <a:ln w="12700">
            <a:solidFill>
              <a:srgbClr val="E2E8F0"/>
            </a:solidFill>
            <a:prstDash val="solid"/>
          </a:ln>
        </p:spPr>
      </p:sp>
      <p:sp>
        <p:nvSpPr>
          <p:cNvPr id="25" name="Shape 23"/>
          <p:cNvSpPr/>
          <p:nvPr/>
        </p:nvSpPr>
        <p:spPr>
          <a:xfrm>
            <a:off x="3931920" y="4069080"/>
            <a:ext cx="54864" cy="932688"/>
          </a:xfrm>
          <a:prstGeom prst="rect">
            <a:avLst/>
          </a:prstGeom>
          <a:solidFill>
            <a:srgbClr val="028090"/>
          </a:solidFill>
          <a:ln w="12700">
            <a:solidFill>
              <a:srgbClr val="028090"/>
            </a:solidFill>
            <a:prstDash val="solid"/>
          </a:ln>
        </p:spPr>
      </p:sp>
      <p:sp>
        <p:nvSpPr>
          <p:cNvPr id="26" name="Text 24"/>
          <p:cNvSpPr/>
          <p:nvPr/>
        </p:nvSpPr>
        <p:spPr>
          <a:xfrm>
            <a:off x="4041648" y="4114800"/>
            <a:ext cx="457200" cy="347472"/>
          </a:xfrm>
          <a:prstGeom prst="rect">
            <a:avLst/>
          </a:prstGeom>
          <a:noFill/>
          <a:ln/>
        </p:spPr>
        <p:txBody>
          <a:bodyPr wrap="square" lIns="0" tIns="0" rIns="0" bIns="0" rtlCol="0" anchor="ctr"/>
          <a:lstStyle/>
          <a:p>
            <a:pPr indent="0" marL="0">
              <a:buNone/>
            </a:pPr>
            <a:r>
              <a:rPr lang="en-US" sz="1600" b="1" dirty="0">
                <a:solidFill>
                  <a:srgbClr val="028090"/>
                </a:solidFill>
              </a:rPr>
              <a:t>④</a:t>
            </a:r>
            <a:endParaRPr lang="en-US" sz="1600" dirty="0"/>
          </a:p>
        </p:txBody>
      </p:sp>
      <p:sp>
        <p:nvSpPr>
          <p:cNvPr id="27" name="Text 25"/>
          <p:cNvSpPr/>
          <p:nvPr/>
        </p:nvSpPr>
        <p:spPr>
          <a:xfrm>
            <a:off x="4526280" y="4142232"/>
            <a:ext cx="4206240" cy="274320"/>
          </a:xfrm>
          <a:prstGeom prst="rect">
            <a:avLst/>
          </a:prstGeom>
          <a:noFill/>
          <a:ln/>
        </p:spPr>
        <p:txBody>
          <a:bodyPr wrap="square" lIns="0" tIns="0" rIns="0" bIns="0" rtlCol="0" anchor="ctr"/>
          <a:lstStyle/>
          <a:p>
            <a:pPr indent="0" marL="0">
              <a:buNone/>
            </a:pPr>
            <a:r>
              <a:rPr lang="en-US" sz="1200" b="1" dirty="0">
                <a:solidFill>
                  <a:srgbClr val="1E293B"/>
                </a:solidFill>
              </a:rPr>
              <a:t>Synthetic Dataset</a:t>
            </a:r>
            <a:endParaRPr lang="en-US" sz="1200" dirty="0"/>
          </a:p>
        </p:txBody>
      </p:sp>
      <p:sp>
        <p:nvSpPr>
          <p:cNvPr id="28" name="Text 26"/>
          <p:cNvSpPr/>
          <p:nvPr/>
        </p:nvSpPr>
        <p:spPr>
          <a:xfrm>
            <a:off x="4526280" y="4453128"/>
            <a:ext cx="4206240" cy="457200"/>
          </a:xfrm>
          <a:prstGeom prst="rect">
            <a:avLst/>
          </a:prstGeom>
          <a:noFill/>
          <a:ln/>
        </p:spPr>
        <p:txBody>
          <a:bodyPr wrap="square" lIns="0" tIns="0" rIns="0" bIns="0" rtlCol="0" anchor="ctr"/>
          <a:lstStyle/>
          <a:p>
            <a:pPr indent="0" marL="0">
              <a:buNone/>
            </a:pPr>
            <a:r>
              <a:rPr lang="en-US" sz="1000" dirty="0">
                <a:solidFill>
                  <a:srgbClr val="64748B"/>
                </a:solidFill>
              </a:rPr>
              <a:t>Created for reproducibility — no real client data, no CNPJs, no names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9FA"/>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lIns="0" tIns="0" rIns="0" bIns="0" rtlCol="0" anchor="ctr"/>
          <a:lstStyle/>
          <a:p>
            <a:pPr indent="0" marL="0">
              <a:buNone/>
            </a:pPr>
            <a:r>
              <a:rPr lang="en-US" sz="2400" b="1" dirty="0">
                <a:solidFill>
                  <a:srgbClr val="0D1B3E"/>
                </a:solidFill>
              </a:rPr>
              <a:t>TECHNICAL EXECUTION</a:t>
            </a:r>
            <a:endParaRPr lang="en-US" sz="2400" dirty="0"/>
          </a:p>
        </p:txBody>
      </p:sp>
      <p:sp>
        <p:nvSpPr>
          <p:cNvPr id="3" name="Text 1"/>
          <p:cNvSpPr/>
          <p:nvPr/>
        </p:nvSpPr>
        <p:spPr>
          <a:xfrm>
            <a:off x="457200" y="804672"/>
            <a:ext cx="8229600" cy="274320"/>
          </a:xfrm>
          <a:prstGeom prst="rect">
            <a:avLst/>
          </a:prstGeom>
          <a:noFill/>
          <a:ln/>
        </p:spPr>
        <p:txBody>
          <a:bodyPr wrap="square" lIns="0" tIns="0" rIns="0" bIns="0" rtlCol="0" anchor="ctr"/>
          <a:lstStyle/>
          <a:p>
            <a:pPr indent="0" marL="0">
              <a:buNone/>
            </a:pPr>
            <a:r>
              <a:rPr lang="en-US" sz="1200" i="1" dirty="0">
                <a:solidFill>
                  <a:srgbClr val="028090"/>
                </a:solidFill>
              </a:rPr>
              <a:t>Tools · Processing · Analysis Pipeline</a:t>
            </a:r>
            <a:endParaRPr lang="en-US" sz="1200" dirty="0"/>
          </a:p>
        </p:txBody>
      </p:sp>
      <p:sp>
        <p:nvSpPr>
          <p:cNvPr id="4" name="Shape 2"/>
          <p:cNvSpPr/>
          <p:nvPr/>
        </p:nvSpPr>
        <p:spPr>
          <a:xfrm>
            <a:off x="457200" y="1188720"/>
            <a:ext cx="1965960" cy="822960"/>
          </a:xfrm>
          <a:prstGeom prst="rect">
            <a:avLst/>
          </a:prstGeom>
          <a:solidFill>
            <a:srgbClr val="0D1B3E"/>
          </a:solidFill>
          <a:ln w="12700">
            <a:solidFill>
              <a:srgbClr val="0D1B3E"/>
            </a:solidFill>
            <a:prstDash val="solid"/>
          </a:ln>
        </p:spPr>
      </p:sp>
      <p:sp>
        <p:nvSpPr>
          <p:cNvPr id="5" name="Text 3"/>
          <p:cNvSpPr/>
          <p:nvPr/>
        </p:nvSpPr>
        <p:spPr>
          <a:xfrm>
            <a:off x="457200" y="1243584"/>
            <a:ext cx="1965960" cy="347472"/>
          </a:xfrm>
          <a:prstGeom prst="rect">
            <a:avLst/>
          </a:prstGeom>
          <a:noFill/>
          <a:ln/>
        </p:spPr>
        <p:txBody>
          <a:bodyPr wrap="square" lIns="0" tIns="0" rIns="0" bIns="0" rtlCol="0" anchor="ctr"/>
          <a:lstStyle/>
          <a:p>
            <a:pPr algn="ctr" indent="0" marL="0">
              <a:buNone/>
            </a:pPr>
            <a:r>
              <a:rPr lang="en-US" sz="1400" b="1" dirty="0">
                <a:solidFill>
                  <a:srgbClr val="FFFFFF"/>
                </a:solidFill>
              </a:rPr>
              <a:t>Python</a:t>
            </a:r>
            <a:endParaRPr lang="en-US" sz="1400" dirty="0"/>
          </a:p>
        </p:txBody>
      </p:sp>
      <p:sp>
        <p:nvSpPr>
          <p:cNvPr id="6" name="Text 4"/>
          <p:cNvSpPr/>
          <p:nvPr/>
        </p:nvSpPr>
        <p:spPr>
          <a:xfrm>
            <a:off x="457200" y="1581912"/>
            <a:ext cx="1965960" cy="365760"/>
          </a:xfrm>
          <a:prstGeom prst="rect">
            <a:avLst/>
          </a:prstGeom>
          <a:noFill/>
          <a:ln/>
        </p:spPr>
        <p:txBody>
          <a:bodyPr wrap="square" lIns="0" tIns="0" rIns="0" bIns="0" rtlCol="0" anchor="ctr"/>
          <a:lstStyle/>
          <a:p>
            <a:pPr algn="ctr" indent="0" marL="0">
              <a:buNone/>
            </a:pPr>
            <a:r>
              <a:rPr lang="en-US" sz="900" dirty="0">
                <a:solidFill>
                  <a:srgbClr val="AACDD6"/>
                </a:solidFill>
              </a:rPr>
              <a:t>Pandas · NumPy</a:t>
            </a:r>
            <a:endParaRPr lang="en-US" sz="900" dirty="0"/>
          </a:p>
        </p:txBody>
      </p:sp>
      <p:sp>
        <p:nvSpPr>
          <p:cNvPr id="7" name="Shape 5"/>
          <p:cNvSpPr/>
          <p:nvPr/>
        </p:nvSpPr>
        <p:spPr>
          <a:xfrm>
            <a:off x="2606040" y="1188720"/>
            <a:ext cx="1965960" cy="822960"/>
          </a:xfrm>
          <a:prstGeom prst="rect">
            <a:avLst/>
          </a:prstGeom>
          <a:solidFill>
            <a:srgbClr val="028090"/>
          </a:solidFill>
          <a:ln w="12700">
            <a:solidFill>
              <a:srgbClr val="028090"/>
            </a:solidFill>
            <a:prstDash val="solid"/>
          </a:ln>
        </p:spPr>
      </p:sp>
      <p:sp>
        <p:nvSpPr>
          <p:cNvPr id="8" name="Text 6"/>
          <p:cNvSpPr/>
          <p:nvPr/>
        </p:nvSpPr>
        <p:spPr>
          <a:xfrm>
            <a:off x="2606040" y="1243584"/>
            <a:ext cx="1965960" cy="347472"/>
          </a:xfrm>
          <a:prstGeom prst="rect">
            <a:avLst/>
          </a:prstGeom>
          <a:noFill/>
          <a:ln/>
        </p:spPr>
        <p:txBody>
          <a:bodyPr wrap="square" lIns="0" tIns="0" rIns="0" bIns="0" rtlCol="0" anchor="ctr"/>
          <a:lstStyle/>
          <a:p>
            <a:pPr algn="ctr" indent="0" marL="0">
              <a:buNone/>
            </a:pPr>
            <a:r>
              <a:rPr lang="en-US" sz="1400" b="1" dirty="0">
                <a:solidFill>
                  <a:srgbClr val="FFFFFF"/>
                </a:solidFill>
              </a:rPr>
              <a:t>sklearn</a:t>
            </a:r>
            <a:endParaRPr lang="en-US" sz="1400" dirty="0"/>
          </a:p>
        </p:txBody>
      </p:sp>
      <p:sp>
        <p:nvSpPr>
          <p:cNvPr id="9" name="Text 7"/>
          <p:cNvSpPr/>
          <p:nvPr/>
        </p:nvSpPr>
        <p:spPr>
          <a:xfrm>
            <a:off x="2606040" y="1581912"/>
            <a:ext cx="1965960" cy="365760"/>
          </a:xfrm>
          <a:prstGeom prst="rect">
            <a:avLst/>
          </a:prstGeom>
          <a:noFill/>
          <a:ln/>
        </p:spPr>
        <p:txBody>
          <a:bodyPr wrap="square" lIns="0" tIns="0" rIns="0" bIns="0" rtlCol="0" anchor="ctr"/>
          <a:lstStyle/>
          <a:p>
            <a:pPr algn="ctr" indent="0" marL="0">
              <a:buNone/>
            </a:pPr>
            <a:r>
              <a:rPr lang="en-US" sz="900" dirty="0">
                <a:solidFill>
                  <a:srgbClr val="AACDD6"/>
                </a:solidFill>
              </a:rPr>
              <a:t>KMeans · Metrics</a:t>
            </a:r>
            <a:endParaRPr lang="en-US" sz="900" dirty="0"/>
          </a:p>
        </p:txBody>
      </p:sp>
      <p:sp>
        <p:nvSpPr>
          <p:cNvPr id="10" name="Shape 8"/>
          <p:cNvSpPr/>
          <p:nvPr/>
        </p:nvSpPr>
        <p:spPr>
          <a:xfrm>
            <a:off x="4754880" y="1188720"/>
            <a:ext cx="1965960" cy="822960"/>
          </a:xfrm>
          <a:prstGeom prst="rect">
            <a:avLst/>
          </a:prstGeom>
          <a:solidFill>
            <a:srgbClr val="1C7293"/>
          </a:solidFill>
          <a:ln w="12700">
            <a:solidFill>
              <a:srgbClr val="1C7293"/>
            </a:solidFill>
            <a:prstDash val="solid"/>
          </a:ln>
        </p:spPr>
      </p:sp>
      <p:sp>
        <p:nvSpPr>
          <p:cNvPr id="11" name="Text 9"/>
          <p:cNvSpPr/>
          <p:nvPr/>
        </p:nvSpPr>
        <p:spPr>
          <a:xfrm>
            <a:off x="4754880" y="1243584"/>
            <a:ext cx="1965960" cy="347472"/>
          </a:xfrm>
          <a:prstGeom prst="rect">
            <a:avLst/>
          </a:prstGeom>
          <a:noFill/>
          <a:ln/>
        </p:spPr>
        <p:txBody>
          <a:bodyPr wrap="square" lIns="0" tIns="0" rIns="0" bIns="0" rtlCol="0" anchor="ctr"/>
          <a:lstStyle/>
          <a:p>
            <a:pPr algn="ctr" indent="0" marL="0">
              <a:buNone/>
            </a:pPr>
            <a:r>
              <a:rPr lang="en-US" sz="1400" b="1" dirty="0">
                <a:solidFill>
                  <a:srgbClr val="FFFFFF"/>
                </a:solidFill>
              </a:rPr>
              <a:t>Power BI</a:t>
            </a:r>
            <a:endParaRPr lang="en-US" sz="1400" dirty="0"/>
          </a:p>
        </p:txBody>
      </p:sp>
      <p:sp>
        <p:nvSpPr>
          <p:cNvPr id="12" name="Text 10"/>
          <p:cNvSpPr/>
          <p:nvPr/>
        </p:nvSpPr>
        <p:spPr>
          <a:xfrm>
            <a:off x="4754880" y="1581912"/>
            <a:ext cx="1965960" cy="365760"/>
          </a:xfrm>
          <a:prstGeom prst="rect">
            <a:avLst/>
          </a:prstGeom>
          <a:noFill/>
          <a:ln/>
        </p:spPr>
        <p:txBody>
          <a:bodyPr wrap="square" lIns="0" tIns="0" rIns="0" bIns="0" rtlCol="0" anchor="ctr"/>
          <a:lstStyle/>
          <a:p>
            <a:pPr algn="ctr" indent="0" marL="0">
              <a:buNone/>
            </a:pPr>
            <a:r>
              <a:rPr lang="en-US" sz="900" dirty="0">
                <a:solidFill>
                  <a:srgbClr val="AACDD6"/>
                </a:solidFill>
              </a:rPr>
              <a:t>BI Dashboards</a:t>
            </a:r>
            <a:endParaRPr lang="en-US" sz="900" dirty="0"/>
          </a:p>
        </p:txBody>
      </p:sp>
      <p:sp>
        <p:nvSpPr>
          <p:cNvPr id="13" name="Shape 11"/>
          <p:cNvSpPr/>
          <p:nvPr/>
        </p:nvSpPr>
        <p:spPr>
          <a:xfrm>
            <a:off x="6903720" y="1188720"/>
            <a:ext cx="1965960" cy="822960"/>
          </a:xfrm>
          <a:prstGeom prst="rect">
            <a:avLst/>
          </a:prstGeom>
          <a:solidFill>
            <a:srgbClr val="065A82"/>
          </a:solidFill>
          <a:ln w="12700">
            <a:solidFill>
              <a:srgbClr val="065A82"/>
            </a:solidFill>
            <a:prstDash val="solid"/>
          </a:ln>
        </p:spPr>
      </p:sp>
      <p:sp>
        <p:nvSpPr>
          <p:cNvPr id="14" name="Text 12"/>
          <p:cNvSpPr/>
          <p:nvPr/>
        </p:nvSpPr>
        <p:spPr>
          <a:xfrm>
            <a:off x="6903720" y="1243584"/>
            <a:ext cx="1965960" cy="347472"/>
          </a:xfrm>
          <a:prstGeom prst="rect">
            <a:avLst/>
          </a:prstGeom>
          <a:noFill/>
          <a:ln/>
        </p:spPr>
        <p:txBody>
          <a:bodyPr wrap="square" lIns="0" tIns="0" rIns="0" bIns="0" rtlCol="0" anchor="ctr"/>
          <a:lstStyle/>
          <a:p>
            <a:pPr algn="ctr" indent="0" marL="0">
              <a:buNone/>
            </a:pPr>
            <a:r>
              <a:rPr lang="en-US" sz="1400" b="1" dirty="0">
                <a:solidFill>
                  <a:srgbClr val="FFFFFF"/>
                </a:solidFill>
              </a:rPr>
              <a:t>matplotlib</a:t>
            </a:r>
            <a:endParaRPr lang="en-US" sz="1400" dirty="0"/>
          </a:p>
        </p:txBody>
      </p:sp>
      <p:sp>
        <p:nvSpPr>
          <p:cNvPr id="15" name="Text 13"/>
          <p:cNvSpPr/>
          <p:nvPr/>
        </p:nvSpPr>
        <p:spPr>
          <a:xfrm>
            <a:off x="6903720" y="1581912"/>
            <a:ext cx="1965960" cy="365760"/>
          </a:xfrm>
          <a:prstGeom prst="rect">
            <a:avLst/>
          </a:prstGeom>
          <a:noFill/>
          <a:ln/>
        </p:spPr>
        <p:txBody>
          <a:bodyPr wrap="square" lIns="0" tIns="0" rIns="0" bIns="0" rtlCol="0" anchor="ctr"/>
          <a:lstStyle/>
          <a:p>
            <a:pPr algn="ctr" indent="0" marL="0">
              <a:buNone/>
            </a:pPr>
            <a:r>
              <a:rPr lang="en-US" sz="900" dirty="0">
                <a:solidFill>
                  <a:srgbClr val="AACDD6"/>
                </a:solidFill>
              </a:rPr>
              <a:t>EDA Visualization</a:t>
            </a:r>
            <a:endParaRPr lang="en-US" sz="900" dirty="0"/>
          </a:p>
        </p:txBody>
      </p:sp>
      <p:sp>
        <p:nvSpPr>
          <p:cNvPr id="16" name="Shape 14"/>
          <p:cNvSpPr/>
          <p:nvPr/>
        </p:nvSpPr>
        <p:spPr>
          <a:xfrm>
            <a:off x="457200" y="2286000"/>
            <a:ext cx="2606040" cy="914400"/>
          </a:xfrm>
          <a:prstGeom prst="rect">
            <a:avLst/>
          </a:prstGeom>
          <a:solidFill>
            <a:srgbClr val="FFFFFF"/>
          </a:solidFill>
          <a:ln w="12700">
            <a:solidFill>
              <a:srgbClr val="E2E8F0"/>
            </a:solidFill>
            <a:prstDash val="solid"/>
          </a:ln>
        </p:spPr>
      </p:sp>
      <p:sp>
        <p:nvSpPr>
          <p:cNvPr id="17" name="Shape 15"/>
          <p:cNvSpPr/>
          <p:nvPr/>
        </p:nvSpPr>
        <p:spPr>
          <a:xfrm>
            <a:off x="457200" y="2286000"/>
            <a:ext cx="475488" cy="914400"/>
          </a:xfrm>
          <a:prstGeom prst="rect">
            <a:avLst/>
          </a:prstGeom>
          <a:solidFill>
            <a:srgbClr val="028090"/>
          </a:solidFill>
          <a:ln w="12700">
            <a:solidFill>
              <a:srgbClr val="028090"/>
            </a:solidFill>
            <a:prstDash val="solid"/>
          </a:ln>
        </p:spPr>
      </p:sp>
      <p:sp>
        <p:nvSpPr>
          <p:cNvPr id="18" name="Text 16"/>
          <p:cNvSpPr/>
          <p:nvPr/>
        </p:nvSpPr>
        <p:spPr>
          <a:xfrm>
            <a:off x="457200" y="2542032"/>
            <a:ext cx="475488" cy="365760"/>
          </a:xfrm>
          <a:prstGeom prst="rect">
            <a:avLst/>
          </a:prstGeom>
          <a:noFill/>
          <a:ln/>
        </p:spPr>
        <p:txBody>
          <a:bodyPr wrap="square" lIns="0" tIns="0" rIns="0" bIns="0" rtlCol="0" anchor="ctr"/>
          <a:lstStyle/>
          <a:p>
            <a:pPr algn="ctr" indent="0" marL="0">
              <a:buNone/>
            </a:pPr>
            <a:r>
              <a:rPr lang="en-US" sz="1400" b="1" dirty="0">
                <a:solidFill>
                  <a:srgbClr val="FFFFFF"/>
                </a:solidFill>
              </a:rPr>
              <a:t>01</a:t>
            </a:r>
            <a:endParaRPr lang="en-US" sz="1400" dirty="0"/>
          </a:p>
        </p:txBody>
      </p:sp>
      <p:sp>
        <p:nvSpPr>
          <p:cNvPr id="19" name="Text 17"/>
          <p:cNvSpPr/>
          <p:nvPr/>
        </p:nvSpPr>
        <p:spPr>
          <a:xfrm>
            <a:off x="1005840" y="2331720"/>
            <a:ext cx="2011680" cy="320040"/>
          </a:xfrm>
          <a:prstGeom prst="rect">
            <a:avLst/>
          </a:prstGeom>
          <a:noFill/>
          <a:ln/>
        </p:spPr>
        <p:txBody>
          <a:bodyPr wrap="square" lIns="0" tIns="0" rIns="0" bIns="0" rtlCol="0" anchor="ctr"/>
          <a:lstStyle/>
          <a:p>
            <a:pPr indent="0" marL="0">
              <a:buNone/>
            </a:pPr>
            <a:r>
              <a:rPr lang="en-US" sz="1000" b="1" dirty="0">
                <a:solidFill>
                  <a:srgbClr val="1E293B"/>
                </a:solidFill>
              </a:rPr>
              <a:t>Data Ingestion</a:t>
            </a:r>
            <a:endParaRPr lang="en-US" sz="1000" dirty="0"/>
          </a:p>
        </p:txBody>
      </p:sp>
      <p:sp>
        <p:nvSpPr>
          <p:cNvPr id="20" name="Text 18"/>
          <p:cNvSpPr/>
          <p:nvPr/>
        </p:nvSpPr>
        <p:spPr>
          <a:xfrm>
            <a:off x="1005840" y="2670048"/>
            <a:ext cx="2011680" cy="475488"/>
          </a:xfrm>
          <a:prstGeom prst="rect">
            <a:avLst/>
          </a:prstGeom>
          <a:noFill/>
          <a:ln/>
        </p:spPr>
        <p:txBody>
          <a:bodyPr wrap="square" lIns="0" tIns="0" rIns="0" bIns="0" rtlCol="0" anchor="ctr"/>
          <a:lstStyle/>
          <a:p>
            <a:pPr indent="0" marL="0">
              <a:buNone/>
            </a:pPr>
            <a:r>
              <a:rPr lang="en-US" sz="900" dirty="0">
                <a:solidFill>
                  <a:srgbClr val="64748B"/>
                </a:solidFill>
              </a:rPr>
              <a:t>Raw maturity scores and financial records loaded from CSV</a:t>
            </a:r>
            <a:endParaRPr lang="en-US" sz="900" dirty="0"/>
          </a:p>
        </p:txBody>
      </p:sp>
      <p:sp>
        <p:nvSpPr>
          <p:cNvPr id="21" name="Shape 19"/>
          <p:cNvSpPr/>
          <p:nvPr/>
        </p:nvSpPr>
        <p:spPr>
          <a:xfrm>
            <a:off x="3291840" y="2286000"/>
            <a:ext cx="2606040" cy="914400"/>
          </a:xfrm>
          <a:prstGeom prst="rect">
            <a:avLst/>
          </a:prstGeom>
          <a:solidFill>
            <a:srgbClr val="FFFFFF"/>
          </a:solidFill>
          <a:ln w="12700">
            <a:solidFill>
              <a:srgbClr val="E2E8F0"/>
            </a:solidFill>
            <a:prstDash val="solid"/>
          </a:ln>
        </p:spPr>
      </p:sp>
      <p:sp>
        <p:nvSpPr>
          <p:cNvPr id="22" name="Shape 20"/>
          <p:cNvSpPr/>
          <p:nvPr/>
        </p:nvSpPr>
        <p:spPr>
          <a:xfrm>
            <a:off x="3291840" y="2286000"/>
            <a:ext cx="475488" cy="914400"/>
          </a:xfrm>
          <a:prstGeom prst="rect">
            <a:avLst/>
          </a:prstGeom>
          <a:solidFill>
            <a:srgbClr val="028090"/>
          </a:solidFill>
          <a:ln w="12700">
            <a:solidFill>
              <a:srgbClr val="028090"/>
            </a:solidFill>
            <a:prstDash val="solid"/>
          </a:ln>
        </p:spPr>
      </p:sp>
      <p:sp>
        <p:nvSpPr>
          <p:cNvPr id="23" name="Text 21"/>
          <p:cNvSpPr/>
          <p:nvPr/>
        </p:nvSpPr>
        <p:spPr>
          <a:xfrm>
            <a:off x="3291840" y="2542032"/>
            <a:ext cx="475488" cy="365760"/>
          </a:xfrm>
          <a:prstGeom prst="rect">
            <a:avLst/>
          </a:prstGeom>
          <a:noFill/>
          <a:ln/>
        </p:spPr>
        <p:txBody>
          <a:bodyPr wrap="square" lIns="0" tIns="0" rIns="0" bIns="0" rtlCol="0" anchor="ctr"/>
          <a:lstStyle/>
          <a:p>
            <a:pPr algn="ctr" indent="0" marL="0">
              <a:buNone/>
            </a:pPr>
            <a:r>
              <a:rPr lang="en-US" sz="1400" b="1" dirty="0">
                <a:solidFill>
                  <a:srgbClr val="FFFFFF"/>
                </a:solidFill>
              </a:rPr>
              <a:t>02</a:t>
            </a:r>
            <a:endParaRPr lang="en-US" sz="1400" dirty="0"/>
          </a:p>
        </p:txBody>
      </p:sp>
      <p:sp>
        <p:nvSpPr>
          <p:cNvPr id="24" name="Text 22"/>
          <p:cNvSpPr/>
          <p:nvPr/>
        </p:nvSpPr>
        <p:spPr>
          <a:xfrm>
            <a:off x="3840480" y="2331720"/>
            <a:ext cx="2011680" cy="320040"/>
          </a:xfrm>
          <a:prstGeom prst="rect">
            <a:avLst/>
          </a:prstGeom>
          <a:noFill/>
          <a:ln/>
        </p:spPr>
        <p:txBody>
          <a:bodyPr wrap="square" lIns="0" tIns="0" rIns="0" bIns="0" rtlCol="0" anchor="ctr"/>
          <a:lstStyle/>
          <a:p>
            <a:pPr indent="0" marL="0">
              <a:buNone/>
            </a:pPr>
            <a:r>
              <a:rPr lang="en-US" sz="1000" b="1" dirty="0">
                <a:solidFill>
                  <a:srgbClr val="1E293B"/>
                </a:solidFill>
              </a:rPr>
              <a:t>Cleaning &amp; Normalization</a:t>
            </a:r>
            <a:endParaRPr lang="en-US" sz="1000" dirty="0"/>
          </a:p>
        </p:txBody>
      </p:sp>
      <p:sp>
        <p:nvSpPr>
          <p:cNvPr id="25" name="Text 23"/>
          <p:cNvSpPr/>
          <p:nvPr/>
        </p:nvSpPr>
        <p:spPr>
          <a:xfrm>
            <a:off x="3840480" y="2670048"/>
            <a:ext cx="2011680" cy="475488"/>
          </a:xfrm>
          <a:prstGeom prst="rect">
            <a:avLst/>
          </a:prstGeom>
          <a:noFill/>
          <a:ln/>
        </p:spPr>
        <p:txBody>
          <a:bodyPr wrap="square" lIns="0" tIns="0" rIns="0" bIns="0" rtlCol="0" anchor="ctr"/>
          <a:lstStyle/>
          <a:p>
            <a:pPr indent="0" marL="0">
              <a:buNone/>
            </a:pPr>
            <a:r>
              <a:rPr lang="en-US" sz="900" dirty="0">
                <a:solidFill>
                  <a:srgbClr val="64748B"/>
                </a:solidFill>
              </a:rPr>
              <a:t>Min-max scaling applied per feature; categorical indicators encoded</a:t>
            </a:r>
            <a:endParaRPr lang="en-US" sz="900" dirty="0"/>
          </a:p>
        </p:txBody>
      </p:sp>
      <p:sp>
        <p:nvSpPr>
          <p:cNvPr id="26" name="Shape 24"/>
          <p:cNvSpPr/>
          <p:nvPr/>
        </p:nvSpPr>
        <p:spPr>
          <a:xfrm>
            <a:off x="6126480" y="2286000"/>
            <a:ext cx="2606040" cy="914400"/>
          </a:xfrm>
          <a:prstGeom prst="rect">
            <a:avLst/>
          </a:prstGeom>
          <a:solidFill>
            <a:srgbClr val="FFFFFF"/>
          </a:solidFill>
          <a:ln w="12700">
            <a:solidFill>
              <a:srgbClr val="E2E8F0"/>
            </a:solidFill>
            <a:prstDash val="solid"/>
          </a:ln>
        </p:spPr>
      </p:sp>
      <p:sp>
        <p:nvSpPr>
          <p:cNvPr id="27" name="Shape 25"/>
          <p:cNvSpPr/>
          <p:nvPr/>
        </p:nvSpPr>
        <p:spPr>
          <a:xfrm>
            <a:off x="6126480" y="2286000"/>
            <a:ext cx="475488" cy="914400"/>
          </a:xfrm>
          <a:prstGeom prst="rect">
            <a:avLst/>
          </a:prstGeom>
          <a:solidFill>
            <a:srgbClr val="02C39A"/>
          </a:solidFill>
          <a:ln w="12700">
            <a:solidFill>
              <a:srgbClr val="02C39A"/>
            </a:solidFill>
            <a:prstDash val="solid"/>
          </a:ln>
        </p:spPr>
      </p:sp>
      <p:sp>
        <p:nvSpPr>
          <p:cNvPr id="28" name="Text 26"/>
          <p:cNvSpPr/>
          <p:nvPr/>
        </p:nvSpPr>
        <p:spPr>
          <a:xfrm>
            <a:off x="6126480" y="2542032"/>
            <a:ext cx="475488" cy="365760"/>
          </a:xfrm>
          <a:prstGeom prst="rect">
            <a:avLst/>
          </a:prstGeom>
          <a:noFill/>
          <a:ln/>
        </p:spPr>
        <p:txBody>
          <a:bodyPr wrap="square" lIns="0" tIns="0" rIns="0" bIns="0" rtlCol="0" anchor="ctr"/>
          <a:lstStyle/>
          <a:p>
            <a:pPr algn="ctr" indent="0" marL="0">
              <a:buNone/>
            </a:pPr>
            <a:r>
              <a:rPr lang="en-US" sz="1400" b="1" dirty="0">
                <a:solidFill>
                  <a:srgbClr val="FFFFFF"/>
                </a:solidFill>
              </a:rPr>
              <a:t>03</a:t>
            </a:r>
            <a:endParaRPr lang="en-US" sz="1400" dirty="0"/>
          </a:p>
        </p:txBody>
      </p:sp>
      <p:sp>
        <p:nvSpPr>
          <p:cNvPr id="29" name="Text 27"/>
          <p:cNvSpPr/>
          <p:nvPr/>
        </p:nvSpPr>
        <p:spPr>
          <a:xfrm>
            <a:off x="6675120" y="2331720"/>
            <a:ext cx="2011680" cy="320040"/>
          </a:xfrm>
          <a:prstGeom prst="rect">
            <a:avLst/>
          </a:prstGeom>
          <a:noFill/>
          <a:ln/>
        </p:spPr>
        <p:txBody>
          <a:bodyPr wrap="square" lIns="0" tIns="0" rIns="0" bIns="0" rtlCol="0" anchor="ctr"/>
          <a:lstStyle/>
          <a:p>
            <a:pPr indent="0" marL="0">
              <a:buNone/>
            </a:pPr>
            <a:r>
              <a:rPr lang="en-US" sz="1000" b="1" dirty="0">
                <a:solidFill>
                  <a:srgbClr val="1E293B"/>
                </a:solidFill>
              </a:rPr>
              <a:t>Descriptive Stats &amp; Gap Analysis</a:t>
            </a:r>
            <a:endParaRPr lang="en-US" sz="1000" dirty="0"/>
          </a:p>
        </p:txBody>
      </p:sp>
      <p:sp>
        <p:nvSpPr>
          <p:cNvPr id="30" name="Text 28"/>
          <p:cNvSpPr/>
          <p:nvPr/>
        </p:nvSpPr>
        <p:spPr>
          <a:xfrm>
            <a:off x="6675120" y="2670048"/>
            <a:ext cx="2011680" cy="475488"/>
          </a:xfrm>
          <a:prstGeom prst="rect">
            <a:avLst/>
          </a:prstGeom>
          <a:noFill/>
          <a:ln/>
        </p:spPr>
        <p:txBody>
          <a:bodyPr wrap="square" lIns="0" tIns="0" rIns="0" bIns="0" rtlCol="0" anchor="ctr"/>
          <a:lstStyle/>
          <a:p>
            <a:pPr indent="0" marL="0">
              <a:buNone/>
            </a:pPr>
            <a:r>
              <a:rPr lang="en-US" sz="900" dirty="0">
                <a:solidFill>
                  <a:srgbClr val="64748B"/>
                </a:solidFill>
              </a:rPr>
              <a:t>Mean, std, percentile per dimension; gap to full maturity computed</a:t>
            </a:r>
            <a:endParaRPr lang="en-US" sz="900" dirty="0"/>
          </a:p>
        </p:txBody>
      </p:sp>
      <p:sp>
        <p:nvSpPr>
          <p:cNvPr id="31" name="Shape 29"/>
          <p:cNvSpPr/>
          <p:nvPr/>
        </p:nvSpPr>
        <p:spPr>
          <a:xfrm>
            <a:off x="457200" y="3703320"/>
            <a:ext cx="2606040" cy="914400"/>
          </a:xfrm>
          <a:prstGeom prst="rect">
            <a:avLst/>
          </a:prstGeom>
          <a:solidFill>
            <a:srgbClr val="FFFFFF"/>
          </a:solidFill>
          <a:ln w="12700">
            <a:solidFill>
              <a:srgbClr val="E2E8F0"/>
            </a:solidFill>
            <a:prstDash val="solid"/>
          </a:ln>
        </p:spPr>
      </p:sp>
      <p:sp>
        <p:nvSpPr>
          <p:cNvPr id="32" name="Shape 30"/>
          <p:cNvSpPr/>
          <p:nvPr/>
        </p:nvSpPr>
        <p:spPr>
          <a:xfrm>
            <a:off x="457200" y="3703320"/>
            <a:ext cx="475488" cy="914400"/>
          </a:xfrm>
          <a:prstGeom prst="rect">
            <a:avLst/>
          </a:prstGeom>
          <a:solidFill>
            <a:srgbClr val="02C39A"/>
          </a:solidFill>
          <a:ln w="12700">
            <a:solidFill>
              <a:srgbClr val="02C39A"/>
            </a:solidFill>
            <a:prstDash val="solid"/>
          </a:ln>
        </p:spPr>
      </p:sp>
      <p:sp>
        <p:nvSpPr>
          <p:cNvPr id="33" name="Text 31"/>
          <p:cNvSpPr/>
          <p:nvPr/>
        </p:nvSpPr>
        <p:spPr>
          <a:xfrm>
            <a:off x="457200" y="3959352"/>
            <a:ext cx="475488" cy="365760"/>
          </a:xfrm>
          <a:prstGeom prst="rect">
            <a:avLst/>
          </a:prstGeom>
          <a:noFill/>
          <a:ln/>
        </p:spPr>
        <p:txBody>
          <a:bodyPr wrap="square" lIns="0" tIns="0" rIns="0" bIns="0" rtlCol="0" anchor="ctr"/>
          <a:lstStyle/>
          <a:p>
            <a:pPr algn="ctr" indent="0" marL="0">
              <a:buNone/>
            </a:pPr>
            <a:r>
              <a:rPr lang="en-US" sz="1400" b="1" dirty="0">
                <a:solidFill>
                  <a:srgbClr val="FFFFFF"/>
                </a:solidFill>
              </a:rPr>
              <a:t>04</a:t>
            </a:r>
            <a:endParaRPr lang="en-US" sz="1400" dirty="0"/>
          </a:p>
        </p:txBody>
      </p:sp>
      <p:sp>
        <p:nvSpPr>
          <p:cNvPr id="34" name="Text 32"/>
          <p:cNvSpPr/>
          <p:nvPr/>
        </p:nvSpPr>
        <p:spPr>
          <a:xfrm>
            <a:off x="1005840" y="3749040"/>
            <a:ext cx="2011680" cy="320040"/>
          </a:xfrm>
          <a:prstGeom prst="rect">
            <a:avLst/>
          </a:prstGeom>
          <a:noFill/>
          <a:ln/>
        </p:spPr>
        <p:txBody>
          <a:bodyPr wrap="square" lIns="0" tIns="0" rIns="0" bIns="0" rtlCol="0" anchor="ctr"/>
          <a:lstStyle/>
          <a:p>
            <a:pPr indent="0" marL="0">
              <a:buNone/>
            </a:pPr>
            <a:r>
              <a:rPr lang="en-US" sz="1000" b="1" dirty="0">
                <a:solidFill>
                  <a:srgbClr val="1E293B"/>
                </a:solidFill>
              </a:rPr>
              <a:t>K-Means Clustering</a:t>
            </a:r>
            <a:endParaRPr lang="en-US" sz="1000" dirty="0"/>
          </a:p>
        </p:txBody>
      </p:sp>
      <p:sp>
        <p:nvSpPr>
          <p:cNvPr id="35" name="Text 33"/>
          <p:cNvSpPr/>
          <p:nvPr/>
        </p:nvSpPr>
        <p:spPr>
          <a:xfrm>
            <a:off x="1005840" y="4087368"/>
            <a:ext cx="2011680" cy="475488"/>
          </a:xfrm>
          <a:prstGeom prst="rect">
            <a:avLst/>
          </a:prstGeom>
          <a:noFill/>
          <a:ln/>
        </p:spPr>
        <p:txBody>
          <a:bodyPr wrap="square" lIns="0" tIns="0" rIns="0" bIns="0" rtlCol="0" anchor="ctr"/>
          <a:lstStyle/>
          <a:p>
            <a:pPr indent="0" marL="0">
              <a:buNone/>
            </a:pPr>
            <a:r>
              <a:rPr lang="en-US" sz="900" dirty="0">
                <a:solidFill>
                  <a:srgbClr val="64748B"/>
                </a:solidFill>
              </a:rPr>
              <a:t>Elbow Method + silhouette score (0.61) → optimal k=3 selected</a:t>
            </a:r>
            <a:endParaRPr lang="en-US" sz="900" dirty="0"/>
          </a:p>
        </p:txBody>
      </p:sp>
      <p:sp>
        <p:nvSpPr>
          <p:cNvPr id="36" name="Shape 34"/>
          <p:cNvSpPr/>
          <p:nvPr/>
        </p:nvSpPr>
        <p:spPr>
          <a:xfrm>
            <a:off x="3291840" y="3703320"/>
            <a:ext cx="2606040" cy="914400"/>
          </a:xfrm>
          <a:prstGeom prst="rect">
            <a:avLst/>
          </a:prstGeom>
          <a:solidFill>
            <a:srgbClr val="FFFFFF"/>
          </a:solidFill>
          <a:ln w="12700">
            <a:solidFill>
              <a:srgbClr val="E2E8F0"/>
            </a:solidFill>
            <a:prstDash val="solid"/>
          </a:ln>
        </p:spPr>
      </p:sp>
      <p:sp>
        <p:nvSpPr>
          <p:cNvPr id="37" name="Shape 35"/>
          <p:cNvSpPr/>
          <p:nvPr/>
        </p:nvSpPr>
        <p:spPr>
          <a:xfrm>
            <a:off x="3291840" y="3703320"/>
            <a:ext cx="475488" cy="914400"/>
          </a:xfrm>
          <a:prstGeom prst="rect">
            <a:avLst/>
          </a:prstGeom>
          <a:solidFill>
            <a:srgbClr val="1C7293"/>
          </a:solidFill>
          <a:ln w="12700">
            <a:solidFill>
              <a:srgbClr val="1C7293"/>
            </a:solidFill>
            <a:prstDash val="solid"/>
          </a:ln>
        </p:spPr>
      </p:sp>
      <p:sp>
        <p:nvSpPr>
          <p:cNvPr id="38" name="Text 36"/>
          <p:cNvSpPr/>
          <p:nvPr/>
        </p:nvSpPr>
        <p:spPr>
          <a:xfrm>
            <a:off x="3291840" y="3959352"/>
            <a:ext cx="475488" cy="365760"/>
          </a:xfrm>
          <a:prstGeom prst="rect">
            <a:avLst/>
          </a:prstGeom>
          <a:noFill/>
          <a:ln/>
        </p:spPr>
        <p:txBody>
          <a:bodyPr wrap="square" lIns="0" tIns="0" rIns="0" bIns="0" rtlCol="0" anchor="ctr"/>
          <a:lstStyle/>
          <a:p>
            <a:pPr algn="ctr" indent="0" marL="0">
              <a:buNone/>
            </a:pPr>
            <a:r>
              <a:rPr lang="en-US" sz="1400" b="1" dirty="0">
                <a:solidFill>
                  <a:srgbClr val="FFFFFF"/>
                </a:solidFill>
              </a:rPr>
              <a:t>05</a:t>
            </a:r>
            <a:endParaRPr lang="en-US" sz="1400" dirty="0"/>
          </a:p>
        </p:txBody>
      </p:sp>
      <p:sp>
        <p:nvSpPr>
          <p:cNvPr id="39" name="Text 37"/>
          <p:cNvSpPr/>
          <p:nvPr/>
        </p:nvSpPr>
        <p:spPr>
          <a:xfrm>
            <a:off x="3840480" y="3749040"/>
            <a:ext cx="2011680" cy="320040"/>
          </a:xfrm>
          <a:prstGeom prst="rect">
            <a:avLst/>
          </a:prstGeom>
          <a:noFill/>
          <a:ln/>
        </p:spPr>
        <p:txBody>
          <a:bodyPr wrap="square" lIns="0" tIns="0" rIns="0" bIns="0" rtlCol="0" anchor="ctr"/>
          <a:lstStyle/>
          <a:p>
            <a:pPr indent="0" marL="0">
              <a:buNone/>
            </a:pPr>
            <a:r>
              <a:rPr lang="en-US" sz="1000" b="1" dirty="0">
                <a:solidFill>
                  <a:srgbClr val="1E293B"/>
                </a:solidFill>
              </a:rPr>
              <a:t>BI Dashboard Output</a:t>
            </a:r>
            <a:endParaRPr lang="en-US" sz="1000" dirty="0"/>
          </a:p>
        </p:txBody>
      </p:sp>
      <p:sp>
        <p:nvSpPr>
          <p:cNvPr id="40" name="Text 38"/>
          <p:cNvSpPr/>
          <p:nvPr/>
        </p:nvSpPr>
        <p:spPr>
          <a:xfrm>
            <a:off x="3840480" y="4087368"/>
            <a:ext cx="2011680" cy="475488"/>
          </a:xfrm>
          <a:prstGeom prst="rect">
            <a:avLst/>
          </a:prstGeom>
          <a:noFill/>
          <a:ln/>
        </p:spPr>
        <p:txBody>
          <a:bodyPr wrap="square" lIns="0" tIns="0" rIns="0" bIns="0" rtlCol="0" anchor="ctr"/>
          <a:lstStyle/>
          <a:p>
            <a:pPr indent="0" marL="0">
              <a:buNone/>
            </a:pPr>
            <a:r>
              <a:rPr lang="en-US" sz="900" dirty="0">
                <a:solidFill>
                  <a:srgbClr val="64748B"/>
                </a:solidFill>
              </a:rPr>
              <a:t>Scalable schema structured for Power BI integration</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3E"/>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D1B3E"/>
          </a:solidFill>
          <a:ln w="12700">
            <a:solidFill>
              <a:srgbClr val="0D1B3E"/>
            </a:solidFill>
            <a:prstDash val="solid"/>
          </a:ln>
        </p:spPr>
      </p:sp>
      <p:sp>
        <p:nvSpPr>
          <p:cNvPr id="3" name="Text 1"/>
          <p:cNvSpPr/>
          <p:nvPr/>
        </p:nvSpPr>
        <p:spPr>
          <a:xfrm>
            <a:off x="365760" y="0"/>
            <a:ext cx="4572000" cy="640080"/>
          </a:xfrm>
          <a:prstGeom prst="rect">
            <a:avLst/>
          </a:prstGeom>
          <a:noFill/>
          <a:ln/>
        </p:spPr>
        <p:txBody>
          <a:bodyPr wrap="square" lIns="0" tIns="0" rIns="0" bIns="0" rtlCol="0" anchor="ctr"/>
          <a:lstStyle/>
          <a:p>
            <a:pPr indent="0" marL="0">
              <a:buNone/>
            </a:pPr>
            <a:r>
              <a:rPr lang="en-US" sz="1800" b="1" dirty="0">
                <a:solidFill>
                  <a:srgbClr val="FFFFFF"/>
                </a:solidFill>
              </a:rPr>
              <a:t>EDA DASHBOARD</a:t>
            </a:r>
            <a:endParaRPr lang="en-US" sz="1800" dirty="0"/>
          </a:p>
        </p:txBody>
      </p:sp>
      <p:sp>
        <p:nvSpPr>
          <p:cNvPr id="4" name="Text 2"/>
          <p:cNvSpPr/>
          <p:nvPr/>
        </p:nvSpPr>
        <p:spPr>
          <a:xfrm>
            <a:off x="4114800" y="0"/>
            <a:ext cx="4754880" cy="640080"/>
          </a:xfrm>
          <a:prstGeom prst="rect">
            <a:avLst/>
          </a:prstGeom>
          <a:noFill/>
          <a:ln/>
        </p:spPr>
        <p:txBody>
          <a:bodyPr wrap="square" lIns="0" tIns="0" rIns="0" bIns="0" rtlCol="0" anchor="ctr"/>
          <a:lstStyle/>
          <a:p>
            <a:pPr algn="r" indent="0" marL="0">
              <a:buNone/>
            </a:pPr>
            <a:r>
              <a:rPr lang="en-US" sz="1000" i="1" dirty="0">
                <a:solidFill>
                  <a:srgbClr val="02C39A"/>
                </a:solidFill>
              </a:rPr>
              <a:t>Score Distribution · Correlation · Clustering · Gap Analysis</a:t>
            </a:r>
            <a:endParaRPr lang="en-US" sz="1000" dirty="0"/>
          </a:p>
        </p:txBody>
      </p:sp>
      <p:pic>
        <p:nvPicPr>
          <p:cNvPr id="5" name="Image 0" descr="preencoded.png">    </p:cNvPr>
          <p:cNvPicPr>
            <a:picLocks noChangeAspect="1"/>
          </p:cNvPicPr>
          <p:nvPr/>
        </p:nvPicPr>
        <p:blipFill>
          <a:blip r:embed="rId1"/>
          <a:stretch>
            <a:fillRect/>
          </a:stretch>
        </p:blipFill>
        <p:spPr>
          <a:xfrm>
            <a:off x="137160" y="685800"/>
            <a:ext cx="8869680" cy="4343400"/>
          </a:xfrm>
          <a:prstGeom prst="rect">
            <a:avLst/>
          </a:prstGeom>
        </p:spPr>
      </p:pic>
      <p:sp>
        <p:nvSpPr>
          <p:cNvPr id="6" name="Text 3"/>
          <p:cNvSpPr/>
          <p:nvPr/>
        </p:nvSpPr>
        <p:spPr>
          <a:xfrm>
            <a:off x="365760" y="4919472"/>
            <a:ext cx="8412480" cy="201168"/>
          </a:xfrm>
          <a:prstGeom prst="rect">
            <a:avLst/>
          </a:prstGeom>
          <a:noFill/>
          <a:ln/>
        </p:spPr>
        <p:txBody>
          <a:bodyPr wrap="square" lIns="0" tIns="0" rIns="0" bIns="0" rtlCol="0" anchor="ctr"/>
          <a:lstStyle/>
          <a:p>
            <a:pPr indent="0" marL="0">
              <a:buNone/>
            </a:pPr>
            <a:r>
              <a:rPr lang="en-US" sz="800" i="1" dirty="0">
                <a:solidFill>
                  <a:srgbClr val="64748B"/>
                </a:solidFill>
              </a:rPr>
              <a:t>Python · matplotlib · sklearn  |  Synthetic dataset — no real client data</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D1B3E"/>
          </a:solidFill>
          <a:ln w="12700">
            <a:solidFill>
              <a:srgbClr val="0D1B3E"/>
            </a:solidFill>
            <a:prstDash val="solid"/>
          </a:ln>
        </p:spPr>
      </p:sp>
      <p:sp>
        <p:nvSpPr>
          <p:cNvPr id="3" name="Text 1"/>
          <p:cNvSpPr/>
          <p:nvPr/>
        </p:nvSpPr>
        <p:spPr>
          <a:xfrm>
            <a:off x="365760" y="0"/>
            <a:ext cx="6400800" cy="960120"/>
          </a:xfrm>
          <a:prstGeom prst="rect">
            <a:avLst/>
          </a:prstGeom>
          <a:noFill/>
          <a:ln/>
        </p:spPr>
        <p:txBody>
          <a:bodyPr wrap="square" lIns="0" tIns="0" rIns="0" bIns="0" rtlCol="0" anchor="ctr"/>
          <a:lstStyle/>
          <a:p>
            <a:pPr indent="0" marL="0">
              <a:buNone/>
            </a:pPr>
            <a:r>
              <a:rPr lang="en-US" sz="2100" b="1" dirty="0">
                <a:solidFill>
                  <a:srgbClr val="FFFFFF"/>
                </a:solidFill>
              </a:rPr>
              <a:t>MATURITY RADAR — 5 BUSINESS DIMENSIONS</a:t>
            </a:r>
            <a:endParaRPr lang="en-US" sz="2100" dirty="0"/>
          </a:p>
        </p:txBody>
      </p:sp>
      <p:sp>
        <p:nvSpPr>
          <p:cNvPr id="4" name="Text 2"/>
          <p:cNvSpPr/>
          <p:nvPr/>
        </p:nvSpPr>
        <p:spPr>
          <a:xfrm>
            <a:off x="6400800" y="0"/>
            <a:ext cx="2468880" cy="960120"/>
          </a:xfrm>
          <a:prstGeom prst="rect">
            <a:avLst/>
          </a:prstGeom>
          <a:noFill/>
          <a:ln/>
        </p:spPr>
        <p:txBody>
          <a:bodyPr wrap="square" lIns="0" tIns="0" rIns="0" bIns="0" rtlCol="0" anchor="ctr"/>
          <a:lstStyle/>
          <a:p>
            <a:pPr algn="r" indent="0" marL="0">
              <a:buNone/>
            </a:pPr>
            <a:r>
              <a:rPr lang="en-US" sz="1100" dirty="0">
                <a:solidFill>
                  <a:srgbClr val="02C39A"/>
                </a:solidFill>
              </a:rPr>
              <a:t>Current scores vs. full maturity</a:t>
            </a:r>
            <a:endParaRPr lang="en-US" sz="1100" dirty="0"/>
          </a:p>
        </p:txBody>
      </p:sp>
      <p:graphicFrame>
        <p:nvGraphicFramePr>
          <p:cNvPr id="5" name="Chart 0" descr=""/>
          <p:cNvGraphicFramePr/>
          <p:nvPr/>
        </p:nvGraphicFramePr>
        <p:xfrm>
          <a:off x="274320" y="1005840"/>
          <a:ext cx="4754880" cy="384048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5303520" y="1005840"/>
            <a:ext cx="3566160" cy="713232"/>
          </a:xfrm>
          <a:prstGeom prst="rect">
            <a:avLst/>
          </a:prstGeom>
          <a:solidFill>
            <a:srgbClr val="F5F9FA"/>
          </a:solidFill>
          <a:ln w="12700">
            <a:solidFill>
              <a:srgbClr val="E2E8F0"/>
            </a:solidFill>
            <a:prstDash val="solid"/>
          </a:ln>
        </p:spPr>
      </p:sp>
      <p:sp>
        <p:nvSpPr>
          <p:cNvPr id="7" name="Shape 4"/>
          <p:cNvSpPr/>
          <p:nvPr/>
        </p:nvSpPr>
        <p:spPr>
          <a:xfrm>
            <a:off x="5303520" y="1005840"/>
            <a:ext cx="54864" cy="713232"/>
          </a:xfrm>
          <a:prstGeom prst="rect">
            <a:avLst/>
          </a:prstGeom>
          <a:solidFill>
            <a:srgbClr val="028090"/>
          </a:solidFill>
          <a:ln w="12700">
            <a:solidFill>
              <a:srgbClr val="028090"/>
            </a:solidFill>
            <a:prstDash val="solid"/>
          </a:ln>
        </p:spPr>
      </p:sp>
      <p:sp>
        <p:nvSpPr>
          <p:cNvPr id="8" name="Text 5"/>
          <p:cNvSpPr/>
          <p:nvPr/>
        </p:nvSpPr>
        <p:spPr>
          <a:xfrm>
            <a:off x="5486400" y="1069848"/>
            <a:ext cx="2011680" cy="274320"/>
          </a:xfrm>
          <a:prstGeom prst="rect">
            <a:avLst/>
          </a:prstGeom>
          <a:noFill/>
          <a:ln/>
        </p:spPr>
        <p:txBody>
          <a:bodyPr wrap="square" lIns="0" tIns="0" rIns="0" bIns="0" rtlCol="0" anchor="ctr"/>
          <a:lstStyle/>
          <a:p>
            <a:pPr indent="0" marL="0">
              <a:buNone/>
            </a:pPr>
            <a:r>
              <a:rPr lang="en-US" sz="1100" b="1" dirty="0">
                <a:solidFill>
                  <a:srgbClr val="1E293B"/>
                </a:solidFill>
              </a:rPr>
              <a:t>Strategy</a:t>
            </a:r>
            <a:endParaRPr lang="en-US" sz="1100" dirty="0"/>
          </a:p>
        </p:txBody>
      </p:sp>
      <p:sp>
        <p:nvSpPr>
          <p:cNvPr id="9" name="Text 6"/>
          <p:cNvSpPr/>
          <p:nvPr/>
        </p:nvSpPr>
        <p:spPr>
          <a:xfrm>
            <a:off x="5486400" y="1371600"/>
            <a:ext cx="2194560" cy="256032"/>
          </a:xfrm>
          <a:prstGeom prst="rect">
            <a:avLst/>
          </a:prstGeom>
          <a:noFill/>
          <a:ln/>
        </p:spPr>
        <p:txBody>
          <a:bodyPr wrap="square" lIns="0" tIns="0" rIns="0" bIns="0" rtlCol="0" anchor="ctr"/>
          <a:lstStyle/>
          <a:p>
            <a:pPr indent="0" marL="0">
              <a:buNone/>
            </a:pPr>
            <a:r>
              <a:rPr lang="en-US" sz="1000" dirty="0">
                <a:solidFill>
                  <a:srgbClr val="64748B"/>
                </a:solidFill>
              </a:rPr>
              <a:t>Score: 38%  ·  Gap: 62 pts</a:t>
            </a:r>
            <a:endParaRPr lang="en-US" sz="1000" dirty="0"/>
          </a:p>
        </p:txBody>
      </p:sp>
      <p:sp>
        <p:nvSpPr>
          <p:cNvPr id="10" name="Shape 7"/>
          <p:cNvSpPr/>
          <p:nvPr/>
        </p:nvSpPr>
        <p:spPr>
          <a:xfrm>
            <a:off x="7818120" y="1207008"/>
            <a:ext cx="914400" cy="329184"/>
          </a:xfrm>
          <a:prstGeom prst="rect">
            <a:avLst/>
          </a:prstGeom>
          <a:solidFill>
            <a:srgbClr val="E2E8F0"/>
          </a:solidFill>
          <a:ln w="12700">
            <a:solidFill>
              <a:srgbClr val="E2E8F0"/>
            </a:solidFill>
            <a:prstDash val="solid"/>
          </a:ln>
        </p:spPr>
      </p:sp>
      <p:sp>
        <p:nvSpPr>
          <p:cNvPr id="11" name="Shape 8"/>
          <p:cNvSpPr/>
          <p:nvPr/>
        </p:nvSpPr>
        <p:spPr>
          <a:xfrm>
            <a:off x="7818120" y="1207008"/>
            <a:ext cx="347472" cy="329184"/>
          </a:xfrm>
          <a:prstGeom prst="rect">
            <a:avLst/>
          </a:prstGeom>
          <a:solidFill>
            <a:srgbClr val="028090"/>
          </a:solidFill>
          <a:ln w="12700">
            <a:solidFill>
              <a:srgbClr val="028090"/>
            </a:solidFill>
            <a:prstDash val="solid"/>
          </a:ln>
        </p:spPr>
      </p:sp>
      <p:sp>
        <p:nvSpPr>
          <p:cNvPr id="12" name="Text 9"/>
          <p:cNvSpPr/>
          <p:nvPr/>
        </p:nvSpPr>
        <p:spPr>
          <a:xfrm>
            <a:off x="8778240" y="1207008"/>
            <a:ext cx="640080" cy="329184"/>
          </a:xfrm>
          <a:prstGeom prst="rect">
            <a:avLst/>
          </a:prstGeom>
          <a:noFill/>
          <a:ln/>
        </p:spPr>
        <p:txBody>
          <a:bodyPr wrap="square" lIns="0" tIns="0" rIns="0" bIns="0" rtlCol="0" anchor="ctr"/>
          <a:lstStyle/>
          <a:p>
            <a:pPr indent="0" marL="0">
              <a:buNone/>
            </a:pPr>
            <a:r>
              <a:rPr lang="en-US" sz="1100" b="1" dirty="0">
                <a:solidFill>
                  <a:srgbClr val="028090"/>
                </a:solidFill>
              </a:rPr>
              <a:t>38%</a:t>
            </a:r>
            <a:endParaRPr lang="en-US" sz="1100" dirty="0"/>
          </a:p>
        </p:txBody>
      </p:sp>
      <p:sp>
        <p:nvSpPr>
          <p:cNvPr id="13" name="Shape 10"/>
          <p:cNvSpPr/>
          <p:nvPr/>
        </p:nvSpPr>
        <p:spPr>
          <a:xfrm>
            <a:off x="5303520" y="1810512"/>
            <a:ext cx="3566160" cy="713232"/>
          </a:xfrm>
          <a:prstGeom prst="rect">
            <a:avLst/>
          </a:prstGeom>
          <a:solidFill>
            <a:srgbClr val="F5F9FA"/>
          </a:solidFill>
          <a:ln w="12700">
            <a:solidFill>
              <a:srgbClr val="E2E8F0"/>
            </a:solidFill>
            <a:prstDash val="solid"/>
          </a:ln>
        </p:spPr>
      </p:sp>
      <p:sp>
        <p:nvSpPr>
          <p:cNvPr id="14" name="Shape 11"/>
          <p:cNvSpPr/>
          <p:nvPr/>
        </p:nvSpPr>
        <p:spPr>
          <a:xfrm>
            <a:off x="5303520" y="1810512"/>
            <a:ext cx="54864" cy="713232"/>
          </a:xfrm>
          <a:prstGeom prst="rect">
            <a:avLst/>
          </a:prstGeom>
          <a:solidFill>
            <a:srgbClr val="E63946"/>
          </a:solidFill>
          <a:ln w="12700">
            <a:solidFill>
              <a:srgbClr val="E63946"/>
            </a:solidFill>
            <a:prstDash val="solid"/>
          </a:ln>
        </p:spPr>
      </p:sp>
      <p:sp>
        <p:nvSpPr>
          <p:cNvPr id="15" name="Text 12"/>
          <p:cNvSpPr/>
          <p:nvPr/>
        </p:nvSpPr>
        <p:spPr>
          <a:xfrm>
            <a:off x="5486400" y="1874520"/>
            <a:ext cx="2011680" cy="274320"/>
          </a:xfrm>
          <a:prstGeom prst="rect">
            <a:avLst/>
          </a:prstGeom>
          <a:noFill/>
          <a:ln/>
        </p:spPr>
        <p:txBody>
          <a:bodyPr wrap="square" lIns="0" tIns="0" rIns="0" bIns="0" rtlCol="0" anchor="ctr"/>
          <a:lstStyle/>
          <a:p>
            <a:pPr indent="0" marL="0">
              <a:buNone/>
            </a:pPr>
            <a:r>
              <a:rPr lang="en-US" sz="1100" b="1" dirty="0">
                <a:solidFill>
                  <a:srgbClr val="1E293B"/>
                </a:solidFill>
              </a:rPr>
              <a:t>Finance</a:t>
            </a:r>
            <a:endParaRPr lang="en-US" sz="1100" dirty="0"/>
          </a:p>
        </p:txBody>
      </p:sp>
      <p:sp>
        <p:nvSpPr>
          <p:cNvPr id="16" name="Text 13"/>
          <p:cNvSpPr/>
          <p:nvPr/>
        </p:nvSpPr>
        <p:spPr>
          <a:xfrm>
            <a:off x="5486400" y="2176272"/>
            <a:ext cx="2194560" cy="256032"/>
          </a:xfrm>
          <a:prstGeom prst="rect">
            <a:avLst/>
          </a:prstGeom>
          <a:noFill/>
          <a:ln/>
        </p:spPr>
        <p:txBody>
          <a:bodyPr wrap="square" lIns="0" tIns="0" rIns="0" bIns="0" rtlCol="0" anchor="ctr"/>
          <a:lstStyle/>
          <a:p>
            <a:pPr indent="0" marL="0">
              <a:buNone/>
            </a:pPr>
            <a:r>
              <a:rPr lang="en-US" sz="1000" dirty="0">
                <a:solidFill>
                  <a:srgbClr val="64748B"/>
                </a:solidFill>
              </a:rPr>
              <a:t>Score: 31%  ·  Gap: 69 pts</a:t>
            </a:r>
            <a:endParaRPr lang="en-US" sz="1000" dirty="0"/>
          </a:p>
        </p:txBody>
      </p:sp>
      <p:sp>
        <p:nvSpPr>
          <p:cNvPr id="17" name="Shape 14"/>
          <p:cNvSpPr/>
          <p:nvPr/>
        </p:nvSpPr>
        <p:spPr>
          <a:xfrm>
            <a:off x="7818120" y="2011680"/>
            <a:ext cx="914400" cy="329184"/>
          </a:xfrm>
          <a:prstGeom prst="rect">
            <a:avLst/>
          </a:prstGeom>
          <a:solidFill>
            <a:srgbClr val="E2E8F0"/>
          </a:solidFill>
          <a:ln w="12700">
            <a:solidFill>
              <a:srgbClr val="E2E8F0"/>
            </a:solidFill>
            <a:prstDash val="solid"/>
          </a:ln>
        </p:spPr>
      </p:sp>
      <p:sp>
        <p:nvSpPr>
          <p:cNvPr id="18" name="Shape 15"/>
          <p:cNvSpPr/>
          <p:nvPr/>
        </p:nvSpPr>
        <p:spPr>
          <a:xfrm>
            <a:off x="7818120" y="2011680"/>
            <a:ext cx="283464" cy="329184"/>
          </a:xfrm>
          <a:prstGeom prst="rect">
            <a:avLst/>
          </a:prstGeom>
          <a:solidFill>
            <a:srgbClr val="E63946"/>
          </a:solidFill>
          <a:ln w="12700">
            <a:solidFill>
              <a:srgbClr val="E63946"/>
            </a:solidFill>
            <a:prstDash val="solid"/>
          </a:ln>
        </p:spPr>
      </p:sp>
      <p:sp>
        <p:nvSpPr>
          <p:cNvPr id="19" name="Text 16"/>
          <p:cNvSpPr/>
          <p:nvPr/>
        </p:nvSpPr>
        <p:spPr>
          <a:xfrm>
            <a:off x="8778240" y="2011680"/>
            <a:ext cx="640080" cy="329184"/>
          </a:xfrm>
          <a:prstGeom prst="rect">
            <a:avLst/>
          </a:prstGeom>
          <a:noFill/>
          <a:ln/>
        </p:spPr>
        <p:txBody>
          <a:bodyPr wrap="square" lIns="0" tIns="0" rIns="0" bIns="0" rtlCol="0" anchor="ctr"/>
          <a:lstStyle/>
          <a:p>
            <a:pPr indent="0" marL="0">
              <a:buNone/>
            </a:pPr>
            <a:r>
              <a:rPr lang="en-US" sz="1100" b="1" dirty="0">
                <a:solidFill>
                  <a:srgbClr val="E63946"/>
                </a:solidFill>
              </a:rPr>
              <a:t>31%</a:t>
            </a:r>
            <a:endParaRPr lang="en-US" sz="1100" dirty="0"/>
          </a:p>
        </p:txBody>
      </p:sp>
      <p:sp>
        <p:nvSpPr>
          <p:cNvPr id="20" name="Shape 17"/>
          <p:cNvSpPr/>
          <p:nvPr/>
        </p:nvSpPr>
        <p:spPr>
          <a:xfrm>
            <a:off x="5303520" y="2615184"/>
            <a:ext cx="3566160" cy="713232"/>
          </a:xfrm>
          <a:prstGeom prst="rect">
            <a:avLst/>
          </a:prstGeom>
          <a:solidFill>
            <a:srgbClr val="F5F9FA"/>
          </a:solidFill>
          <a:ln w="12700">
            <a:solidFill>
              <a:srgbClr val="E2E8F0"/>
            </a:solidFill>
            <a:prstDash val="solid"/>
          </a:ln>
        </p:spPr>
      </p:sp>
      <p:sp>
        <p:nvSpPr>
          <p:cNvPr id="21" name="Shape 18"/>
          <p:cNvSpPr/>
          <p:nvPr/>
        </p:nvSpPr>
        <p:spPr>
          <a:xfrm>
            <a:off x="5303520" y="2615184"/>
            <a:ext cx="54864" cy="713232"/>
          </a:xfrm>
          <a:prstGeom prst="rect">
            <a:avLst/>
          </a:prstGeom>
          <a:solidFill>
            <a:srgbClr val="1C7293"/>
          </a:solidFill>
          <a:ln w="12700">
            <a:solidFill>
              <a:srgbClr val="1C7293"/>
            </a:solidFill>
            <a:prstDash val="solid"/>
          </a:ln>
        </p:spPr>
      </p:sp>
      <p:sp>
        <p:nvSpPr>
          <p:cNvPr id="22" name="Text 19"/>
          <p:cNvSpPr/>
          <p:nvPr/>
        </p:nvSpPr>
        <p:spPr>
          <a:xfrm>
            <a:off x="5486400" y="2679192"/>
            <a:ext cx="2011680" cy="274320"/>
          </a:xfrm>
          <a:prstGeom prst="rect">
            <a:avLst/>
          </a:prstGeom>
          <a:noFill/>
          <a:ln/>
        </p:spPr>
        <p:txBody>
          <a:bodyPr wrap="square" lIns="0" tIns="0" rIns="0" bIns="0" rtlCol="0" anchor="ctr"/>
          <a:lstStyle/>
          <a:p>
            <a:pPr indent="0" marL="0">
              <a:buNone/>
            </a:pPr>
            <a:r>
              <a:rPr lang="en-US" sz="1100" b="1" dirty="0">
                <a:solidFill>
                  <a:srgbClr val="1E293B"/>
                </a:solidFill>
              </a:rPr>
              <a:t>Marketing</a:t>
            </a:r>
            <a:endParaRPr lang="en-US" sz="1100" dirty="0"/>
          </a:p>
        </p:txBody>
      </p:sp>
      <p:sp>
        <p:nvSpPr>
          <p:cNvPr id="23" name="Text 20"/>
          <p:cNvSpPr/>
          <p:nvPr/>
        </p:nvSpPr>
        <p:spPr>
          <a:xfrm>
            <a:off x="5486400" y="2980944"/>
            <a:ext cx="2194560" cy="256032"/>
          </a:xfrm>
          <a:prstGeom prst="rect">
            <a:avLst/>
          </a:prstGeom>
          <a:noFill/>
          <a:ln/>
        </p:spPr>
        <p:txBody>
          <a:bodyPr wrap="square" lIns="0" tIns="0" rIns="0" bIns="0" rtlCol="0" anchor="ctr"/>
          <a:lstStyle/>
          <a:p>
            <a:pPr indent="0" marL="0">
              <a:buNone/>
            </a:pPr>
            <a:r>
              <a:rPr lang="en-US" sz="1000" dirty="0">
                <a:solidFill>
                  <a:srgbClr val="64748B"/>
                </a:solidFill>
              </a:rPr>
              <a:t>Score: 38%  ·  Gap: 62 pts</a:t>
            </a:r>
            <a:endParaRPr lang="en-US" sz="1000" dirty="0"/>
          </a:p>
        </p:txBody>
      </p:sp>
      <p:sp>
        <p:nvSpPr>
          <p:cNvPr id="24" name="Shape 21"/>
          <p:cNvSpPr/>
          <p:nvPr/>
        </p:nvSpPr>
        <p:spPr>
          <a:xfrm>
            <a:off x="7818120" y="2816352"/>
            <a:ext cx="914400" cy="329184"/>
          </a:xfrm>
          <a:prstGeom prst="rect">
            <a:avLst/>
          </a:prstGeom>
          <a:solidFill>
            <a:srgbClr val="E2E8F0"/>
          </a:solidFill>
          <a:ln w="12700">
            <a:solidFill>
              <a:srgbClr val="E2E8F0"/>
            </a:solidFill>
            <a:prstDash val="solid"/>
          </a:ln>
        </p:spPr>
      </p:sp>
      <p:sp>
        <p:nvSpPr>
          <p:cNvPr id="25" name="Shape 22"/>
          <p:cNvSpPr/>
          <p:nvPr/>
        </p:nvSpPr>
        <p:spPr>
          <a:xfrm>
            <a:off x="7818120" y="2816352"/>
            <a:ext cx="347472" cy="329184"/>
          </a:xfrm>
          <a:prstGeom prst="rect">
            <a:avLst/>
          </a:prstGeom>
          <a:solidFill>
            <a:srgbClr val="1C7293"/>
          </a:solidFill>
          <a:ln w="12700">
            <a:solidFill>
              <a:srgbClr val="1C7293"/>
            </a:solidFill>
            <a:prstDash val="solid"/>
          </a:ln>
        </p:spPr>
      </p:sp>
      <p:sp>
        <p:nvSpPr>
          <p:cNvPr id="26" name="Text 23"/>
          <p:cNvSpPr/>
          <p:nvPr/>
        </p:nvSpPr>
        <p:spPr>
          <a:xfrm>
            <a:off x="8778240" y="2816352"/>
            <a:ext cx="640080" cy="329184"/>
          </a:xfrm>
          <a:prstGeom prst="rect">
            <a:avLst/>
          </a:prstGeom>
          <a:noFill/>
          <a:ln/>
        </p:spPr>
        <p:txBody>
          <a:bodyPr wrap="square" lIns="0" tIns="0" rIns="0" bIns="0" rtlCol="0" anchor="ctr"/>
          <a:lstStyle/>
          <a:p>
            <a:pPr indent="0" marL="0">
              <a:buNone/>
            </a:pPr>
            <a:r>
              <a:rPr lang="en-US" sz="1100" b="1" dirty="0">
                <a:solidFill>
                  <a:srgbClr val="1C7293"/>
                </a:solidFill>
              </a:rPr>
              <a:t>38%</a:t>
            </a:r>
            <a:endParaRPr lang="en-US" sz="1100" dirty="0"/>
          </a:p>
        </p:txBody>
      </p:sp>
      <p:sp>
        <p:nvSpPr>
          <p:cNvPr id="27" name="Shape 24"/>
          <p:cNvSpPr/>
          <p:nvPr/>
        </p:nvSpPr>
        <p:spPr>
          <a:xfrm>
            <a:off x="5303520" y="3419856"/>
            <a:ext cx="3566160" cy="713232"/>
          </a:xfrm>
          <a:prstGeom prst="rect">
            <a:avLst/>
          </a:prstGeom>
          <a:solidFill>
            <a:srgbClr val="F5F9FA"/>
          </a:solidFill>
          <a:ln w="12700">
            <a:solidFill>
              <a:srgbClr val="E2E8F0"/>
            </a:solidFill>
            <a:prstDash val="solid"/>
          </a:ln>
        </p:spPr>
      </p:sp>
      <p:sp>
        <p:nvSpPr>
          <p:cNvPr id="28" name="Shape 25"/>
          <p:cNvSpPr/>
          <p:nvPr/>
        </p:nvSpPr>
        <p:spPr>
          <a:xfrm>
            <a:off x="5303520" y="3419856"/>
            <a:ext cx="54864" cy="713232"/>
          </a:xfrm>
          <a:prstGeom prst="rect">
            <a:avLst/>
          </a:prstGeom>
          <a:solidFill>
            <a:srgbClr val="02C39A"/>
          </a:solidFill>
          <a:ln w="12700">
            <a:solidFill>
              <a:srgbClr val="02C39A"/>
            </a:solidFill>
            <a:prstDash val="solid"/>
          </a:ln>
        </p:spPr>
      </p:sp>
      <p:sp>
        <p:nvSpPr>
          <p:cNvPr id="29" name="Text 26"/>
          <p:cNvSpPr/>
          <p:nvPr/>
        </p:nvSpPr>
        <p:spPr>
          <a:xfrm>
            <a:off x="5486400" y="3483864"/>
            <a:ext cx="2011680" cy="274320"/>
          </a:xfrm>
          <a:prstGeom prst="rect">
            <a:avLst/>
          </a:prstGeom>
          <a:noFill/>
          <a:ln/>
        </p:spPr>
        <p:txBody>
          <a:bodyPr wrap="square" lIns="0" tIns="0" rIns="0" bIns="0" rtlCol="0" anchor="ctr"/>
          <a:lstStyle/>
          <a:p>
            <a:pPr indent="0" marL="0">
              <a:buNone/>
            </a:pPr>
            <a:r>
              <a:rPr lang="en-US" sz="1100" b="1" dirty="0">
                <a:solidFill>
                  <a:srgbClr val="1E293B"/>
                </a:solidFill>
              </a:rPr>
              <a:t>Operations</a:t>
            </a:r>
            <a:endParaRPr lang="en-US" sz="1100" dirty="0"/>
          </a:p>
        </p:txBody>
      </p:sp>
      <p:sp>
        <p:nvSpPr>
          <p:cNvPr id="30" name="Text 27"/>
          <p:cNvSpPr/>
          <p:nvPr/>
        </p:nvSpPr>
        <p:spPr>
          <a:xfrm>
            <a:off x="5486400" y="3785616"/>
            <a:ext cx="2194560" cy="256032"/>
          </a:xfrm>
          <a:prstGeom prst="rect">
            <a:avLst/>
          </a:prstGeom>
          <a:noFill/>
          <a:ln/>
        </p:spPr>
        <p:txBody>
          <a:bodyPr wrap="square" lIns="0" tIns="0" rIns="0" bIns="0" rtlCol="0" anchor="ctr"/>
          <a:lstStyle/>
          <a:p>
            <a:pPr indent="0" marL="0">
              <a:buNone/>
            </a:pPr>
            <a:r>
              <a:rPr lang="en-US" sz="1000" dirty="0">
                <a:solidFill>
                  <a:srgbClr val="64748B"/>
                </a:solidFill>
              </a:rPr>
              <a:t>Score: 44%  ·  Gap: 56 pts</a:t>
            </a:r>
            <a:endParaRPr lang="en-US" sz="1000" dirty="0"/>
          </a:p>
        </p:txBody>
      </p:sp>
      <p:sp>
        <p:nvSpPr>
          <p:cNvPr id="31" name="Shape 28"/>
          <p:cNvSpPr/>
          <p:nvPr/>
        </p:nvSpPr>
        <p:spPr>
          <a:xfrm>
            <a:off x="7818120" y="3621024"/>
            <a:ext cx="914400" cy="329184"/>
          </a:xfrm>
          <a:prstGeom prst="rect">
            <a:avLst/>
          </a:prstGeom>
          <a:solidFill>
            <a:srgbClr val="E2E8F0"/>
          </a:solidFill>
          <a:ln w="12700">
            <a:solidFill>
              <a:srgbClr val="E2E8F0"/>
            </a:solidFill>
            <a:prstDash val="solid"/>
          </a:ln>
        </p:spPr>
      </p:sp>
      <p:sp>
        <p:nvSpPr>
          <p:cNvPr id="32" name="Shape 29"/>
          <p:cNvSpPr/>
          <p:nvPr/>
        </p:nvSpPr>
        <p:spPr>
          <a:xfrm>
            <a:off x="7818120" y="3621024"/>
            <a:ext cx="402336" cy="329184"/>
          </a:xfrm>
          <a:prstGeom prst="rect">
            <a:avLst/>
          </a:prstGeom>
          <a:solidFill>
            <a:srgbClr val="02C39A"/>
          </a:solidFill>
          <a:ln w="12700">
            <a:solidFill>
              <a:srgbClr val="02C39A"/>
            </a:solidFill>
            <a:prstDash val="solid"/>
          </a:ln>
        </p:spPr>
      </p:sp>
      <p:sp>
        <p:nvSpPr>
          <p:cNvPr id="33" name="Text 30"/>
          <p:cNvSpPr/>
          <p:nvPr/>
        </p:nvSpPr>
        <p:spPr>
          <a:xfrm>
            <a:off x="8778240" y="3621024"/>
            <a:ext cx="640080" cy="329184"/>
          </a:xfrm>
          <a:prstGeom prst="rect">
            <a:avLst/>
          </a:prstGeom>
          <a:noFill/>
          <a:ln/>
        </p:spPr>
        <p:txBody>
          <a:bodyPr wrap="square" lIns="0" tIns="0" rIns="0" bIns="0" rtlCol="0" anchor="ctr"/>
          <a:lstStyle/>
          <a:p>
            <a:pPr indent="0" marL="0">
              <a:buNone/>
            </a:pPr>
            <a:r>
              <a:rPr lang="en-US" sz="1100" b="1" dirty="0">
                <a:solidFill>
                  <a:srgbClr val="02C39A"/>
                </a:solidFill>
              </a:rPr>
              <a:t>44%</a:t>
            </a:r>
            <a:endParaRPr lang="en-US" sz="1100" dirty="0"/>
          </a:p>
        </p:txBody>
      </p:sp>
      <p:sp>
        <p:nvSpPr>
          <p:cNvPr id="34" name="Shape 31"/>
          <p:cNvSpPr/>
          <p:nvPr/>
        </p:nvSpPr>
        <p:spPr>
          <a:xfrm>
            <a:off x="5303520" y="4224528"/>
            <a:ext cx="3566160" cy="713232"/>
          </a:xfrm>
          <a:prstGeom prst="rect">
            <a:avLst/>
          </a:prstGeom>
          <a:solidFill>
            <a:srgbClr val="F5F9FA"/>
          </a:solidFill>
          <a:ln w="12700">
            <a:solidFill>
              <a:srgbClr val="E2E8F0"/>
            </a:solidFill>
            <a:prstDash val="solid"/>
          </a:ln>
        </p:spPr>
      </p:sp>
      <p:sp>
        <p:nvSpPr>
          <p:cNvPr id="35" name="Shape 32"/>
          <p:cNvSpPr/>
          <p:nvPr/>
        </p:nvSpPr>
        <p:spPr>
          <a:xfrm>
            <a:off x="5303520" y="4224528"/>
            <a:ext cx="54864" cy="713232"/>
          </a:xfrm>
          <a:prstGeom prst="rect">
            <a:avLst/>
          </a:prstGeom>
          <a:solidFill>
            <a:srgbClr val="F4A261"/>
          </a:solidFill>
          <a:ln w="12700">
            <a:solidFill>
              <a:srgbClr val="F4A261"/>
            </a:solidFill>
            <a:prstDash val="solid"/>
          </a:ln>
        </p:spPr>
      </p:sp>
      <p:sp>
        <p:nvSpPr>
          <p:cNvPr id="36" name="Text 33"/>
          <p:cNvSpPr/>
          <p:nvPr/>
        </p:nvSpPr>
        <p:spPr>
          <a:xfrm>
            <a:off x="5486400" y="4288536"/>
            <a:ext cx="2011680" cy="274320"/>
          </a:xfrm>
          <a:prstGeom prst="rect">
            <a:avLst/>
          </a:prstGeom>
          <a:noFill/>
          <a:ln/>
        </p:spPr>
        <p:txBody>
          <a:bodyPr wrap="square" lIns="0" tIns="0" rIns="0" bIns="0" rtlCol="0" anchor="ctr"/>
          <a:lstStyle/>
          <a:p>
            <a:pPr indent="0" marL="0">
              <a:buNone/>
            </a:pPr>
            <a:r>
              <a:rPr lang="en-US" sz="1100" b="1" dirty="0">
                <a:solidFill>
                  <a:srgbClr val="1E293B"/>
                </a:solidFill>
              </a:rPr>
              <a:t>People Mgmt</a:t>
            </a:r>
            <a:endParaRPr lang="en-US" sz="1100" dirty="0"/>
          </a:p>
        </p:txBody>
      </p:sp>
      <p:sp>
        <p:nvSpPr>
          <p:cNvPr id="37" name="Text 34"/>
          <p:cNvSpPr/>
          <p:nvPr/>
        </p:nvSpPr>
        <p:spPr>
          <a:xfrm>
            <a:off x="5486400" y="4590288"/>
            <a:ext cx="2194560" cy="256032"/>
          </a:xfrm>
          <a:prstGeom prst="rect">
            <a:avLst/>
          </a:prstGeom>
          <a:noFill/>
          <a:ln/>
        </p:spPr>
        <p:txBody>
          <a:bodyPr wrap="square" lIns="0" tIns="0" rIns="0" bIns="0" rtlCol="0" anchor="ctr"/>
          <a:lstStyle/>
          <a:p>
            <a:pPr indent="0" marL="0">
              <a:buNone/>
            </a:pPr>
            <a:r>
              <a:rPr lang="en-US" sz="1000" dirty="0">
                <a:solidFill>
                  <a:srgbClr val="64748B"/>
                </a:solidFill>
              </a:rPr>
              <a:t>Score: 19%  ·  Gap: 81 pts</a:t>
            </a:r>
            <a:endParaRPr lang="en-US" sz="1000" dirty="0"/>
          </a:p>
        </p:txBody>
      </p:sp>
      <p:sp>
        <p:nvSpPr>
          <p:cNvPr id="38" name="Shape 35"/>
          <p:cNvSpPr/>
          <p:nvPr/>
        </p:nvSpPr>
        <p:spPr>
          <a:xfrm>
            <a:off x="7818120" y="4425696"/>
            <a:ext cx="914400" cy="329184"/>
          </a:xfrm>
          <a:prstGeom prst="rect">
            <a:avLst/>
          </a:prstGeom>
          <a:solidFill>
            <a:srgbClr val="E2E8F0"/>
          </a:solidFill>
          <a:ln w="12700">
            <a:solidFill>
              <a:srgbClr val="E2E8F0"/>
            </a:solidFill>
            <a:prstDash val="solid"/>
          </a:ln>
        </p:spPr>
      </p:sp>
      <p:sp>
        <p:nvSpPr>
          <p:cNvPr id="39" name="Shape 36"/>
          <p:cNvSpPr/>
          <p:nvPr/>
        </p:nvSpPr>
        <p:spPr>
          <a:xfrm>
            <a:off x="7818120" y="4425696"/>
            <a:ext cx="173736" cy="329184"/>
          </a:xfrm>
          <a:prstGeom prst="rect">
            <a:avLst/>
          </a:prstGeom>
          <a:solidFill>
            <a:srgbClr val="F4A261"/>
          </a:solidFill>
          <a:ln w="12700">
            <a:solidFill>
              <a:srgbClr val="F4A261"/>
            </a:solidFill>
            <a:prstDash val="solid"/>
          </a:ln>
        </p:spPr>
      </p:sp>
      <p:sp>
        <p:nvSpPr>
          <p:cNvPr id="40" name="Text 37"/>
          <p:cNvSpPr/>
          <p:nvPr/>
        </p:nvSpPr>
        <p:spPr>
          <a:xfrm>
            <a:off x="8778240" y="4425696"/>
            <a:ext cx="640080" cy="329184"/>
          </a:xfrm>
          <a:prstGeom prst="rect">
            <a:avLst/>
          </a:prstGeom>
          <a:noFill/>
          <a:ln/>
        </p:spPr>
        <p:txBody>
          <a:bodyPr wrap="square" lIns="0" tIns="0" rIns="0" bIns="0" rtlCol="0" anchor="ctr"/>
          <a:lstStyle/>
          <a:p>
            <a:pPr indent="0" marL="0">
              <a:buNone/>
            </a:pPr>
            <a:r>
              <a:rPr lang="en-US" sz="1100" b="1" dirty="0">
                <a:solidFill>
                  <a:srgbClr val="F4A261"/>
                </a:solidFill>
              </a:rPr>
              <a:t>19%</a:t>
            </a:r>
            <a:endParaRPr lang="en-US" sz="1100" dirty="0"/>
          </a:p>
        </p:txBody>
      </p:sp>
      <p:sp>
        <p:nvSpPr>
          <p:cNvPr id="41" name="Text 38"/>
          <p:cNvSpPr/>
          <p:nvPr/>
        </p:nvSpPr>
        <p:spPr>
          <a:xfrm>
            <a:off x="5303520" y="4956048"/>
            <a:ext cx="3657600" cy="228600"/>
          </a:xfrm>
          <a:prstGeom prst="rect">
            <a:avLst/>
          </a:prstGeom>
          <a:noFill/>
          <a:ln/>
        </p:spPr>
        <p:txBody>
          <a:bodyPr wrap="square" lIns="0" tIns="0" rIns="0" bIns="0" rtlCol="0" anchor="ctr"/>
          <a:lstStyle/>
          <a:p>
            <a:pPr indent="0" marL="0">
              <a:buNone/>
            </a:pPr>
            <a:r>
              <a:rPr lang="en-US" sz="800" i="1" dirty="0">
                <a:solidFill>
                  <a:srgbClr val="64748B"/>
                </a:solidFill>
              </a:rPr>
              <a:t>* Scores represent current maturity level (0–100%). Gap = points to full maturity.</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9FA"/>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28090"/>
          </a:solidFill>
          <a:ln w="12700">
            <a:solidFill>
              <a:srgbClr val="028090"/>
            </a:solidFill>
            <a:prstDash val="solid"/>
          </a:ln>
        </p:spPr>
      </p:sp>
      <p:sp>
        <p:nvSpPr>
          <p:cNvPr id="3" name="Text 1"/>
          <p:cNvSpPr/>
          <p:nvPr/>
        </p:nvSpPr>
        <p:spPr>
          <a:xfrm>
            <a:off x="365760" y="0"/>
            <a:ext cx="7772400" cy="960120"/>
          </a:xfrm>
          <a:prstGeom prst="rect">
            <a:avLst/>
          </a:prstGeom>
          <a:noFill/>
          <a:ln/>
        </p:spPr>
        <p:txBody>
          <a:bodyPr wrap="square" lIns="0" tIns="0" rIns="0" bIns="0" rtlCol="0" anchor="ctr"/>
          <a:lstStyle/>
          <a:p>
            <a:pPr indent="0" marL="0">
              <a:buNone/>
            </a:pPr>
            <a:r>
              <a:rPr lang="en-US" sz="1900" b="1" dirty="0">
                <a:solidFill>
                  <a:srgbClr val="FFFFFF"/>
                </a:solidFill>
              </a:rPr>
              <a:t>K-MEANS CLUSTERING — MATURITY PROFILES IDENTIFIED</a:t>
            </a:r>
            <a:endParaRPr lang="en-US" sz="1900" dirty="0"/>
          </a:p>
        </p:txBody>
      </p:sp>
      <p:sp>
        <p:nvSpPr>
          <p:cNvPr id="4" name="Text 2"/>
          <p:cNvSpPr/>
          <p:nvPr/>
        </p:nvSpPr>
        <p:spPr>
          <a:xfrm>
            <a:off x="365760" y="1078992"/>
            <a:ext cx="8412480" cy="777240"/>
          </a:xfrm>
          <a:prstGeom prst="rect">
            <a:avLst/>
          </a:prstGeom>
          <a:noFill/>
          <a:ln/>
        </p:spPr>
        <p:txBody>
          <a:bodyPr wrap="square" lIns="0" tIns="0" rIns="0" bIns="0" rtlCol="0" anchor="ctr"/>
          <a:lstStyle/>
          <a:p>
            <a:pPr indent="0" marL="0">
              <a:buNone/>
            </a:pPr>
            <a:r>
              <a:rPr lang="en-US" sz="1100" dirty="0">
                <a:solidFill>
                  <a:srgbClr val="1E293B"/>
                </a:solidFill>
              </a:rPr>
              <a:t>K-Means clustering (k=3) was applied to the normalized maturity score matrix as an exploratory segmentation technique — suitable for pattern discovery on this dataset scale, and not intended as a production-grade model. Optimal k was determined using the Elbow Method (inertia inflection at k=3) and validated with a silhouette score of 0.61, confirming well-separated clusters.</a:t>
            </a:r>
            <a:endParaRPr lang="en-US" sz="1100" dirty="0"/>
          </a:p>
        </p:txBody>
      </p:sp>
      <p:sp>
        <p:nvSpPr>
          <p:cNvPr id="5" name="Shape 3"/>
          <p:cNvSpPr/>
          <p:nvPr/>
        </p:nvSpPr>
        <p:spPr>
          <a:xfrm>
            <a:off x="320040" y="2011680"/>
            <a:ext cx="2724912" cy="2834640"/>
          </a:xfrm>
          <a:prstGeom prst="rect">
            <a:avLst/>
          </a:prstGeom>
          <a:solidFill>
            <a:srgbClr val="FFFFFF"/>
          </a:solidFill>
          <a:ln w="12700">
            <a:solidFill>
              <a:srgbClr val="E2E8F0"/>
            </a:solidFill>
            <a:prstDash val="solid"/>
          </a:ln>
        </p:spPr>
      </p:sp>
      <p:sp>
        <p:nvSpPr>
          <p:cNvPr id="6" name="Shape 4"/>
          <p:cNvSpPr/>
          <p:nvPr/>
        </p:nvSpPr>
        <p:spPr>
          <a:xfrm>
            <a:off x="320040" y="2011680"/>
            <a:ext cx="2724912" cy="713232"/>
          </a:xfrm>
          <a:prstGeom prst="rect">
            <a:avLst/>
          </a:prstGeom>
          <a:solidFill>
            <a:srgbClr val="028090"/>
          </a:solidFill>
          <a:ln w="12700">
            <a:solidFill>
              <a:srgbClr val="028090"/>
            </a:solidFill>
            <a:prstDash val="solid"/>
          </a:ln>
        </p:spPr>
      </p:sp>
      <p:sp>
        <p:nvSpPr>
          <p:cNvPr id="7" name="Text 5"/>
          <p:cNvSpPr/>
          <p:nvPr/>
        </p:nvSpPr>
        <p:spPr>
          <a:xfrm>
            <a:off x="320040" y="2029968"/>
            <a:ext cx="2724912" cy="347472"/>
          </a:xfrm>
          <a:prstGeom prst="rect">
            <a:avLst/>
          </a:prstGeom>
          <a:noFill/>
          <a:ln/>
        </p:spPr>
        <p:txBody>
          <a:bodyPr wrap="square" lIns="0" tIns="0" rIns="0" bIns="0" rtlCol="0" anchor="ctr"/>
          <a:lstStyle/>
          <a:p>
            <a:pPr algn="ctr" indent="0" marL="0">
              <a:buNone/>
            </a:pPr>
            <a:r>
              <a:rPr lang="en-US" sz="1500" b="1" dirty="0">
                <a:solidFill>
                  <a:srgbClr val="FFFFFF"/>
                </a:solidFill>
              </a:rPr>
              <a:t>Cluster C1</a:t>
            </a:r>
            <a:endParaRPr lang="en-US" sz="1500" dirty="0"/>
          </a:p>
        </p:txBody>
      </p:sp>
      <p:sp>
        <p:nvSpPr>
          <p:cNvPr id="8" name="Text 6"/>
          <p:cNvSpPr/>
          <p:nvPr/>
        </p:nvSpPr>
        <p:spPr>
          <a:xfrm>
            <a:off x="320040" y="2377440"/>
            <a:ext cx="2724912" cy="320040"/>
          </a:xfrm>
          <a:prstGeom prst="rect">
            <a:avLst/>
          </a:prstGeom>
          <a:noFill/>
          <a:ln/>
        </p:spPr>
        <p:txBody>
          <a:bodyPr wrap="square" lIns="0" tIns="0" rIns="0" bIns="0" rtlCol="0" anchor="ctr"/>
          <a:lstStyle/>
          <a:p>
            <a:pPr algn="ctr" indent="0" marL="0">
              <a:buNone/>
            </a:pPr>
            <a:r>
              <a:rPr lang="en-US" sz="1000" i="1" dirty="0">
                <a:solidFill>
                  <a:srgbClr val="D4F5ED"/>
                </a:solidFill>
              </a:rPr>
              <a:t>Finance ↑  Strategy ↓</a:t>
            </a:r>
            <a:endParaRPr lang="en-US" sz="1000" dirty="0"/>
          </a:p>
        </p:txBody>
      </p:sp>
      <p:sp>
        <p:nvSpPr>
          <p:cNvPr id="9" name="Text 7"/>
          <p:cNvSpPr/>
          <p:nvPr/>
        </p:nvSpPr>
        <p:spPr>
          <a:xfrm>
            <a:off x="457200" y="2834640"/>
            <a:ext cx="2423160" cy="411480"/>
          </a:xfrm>
          <a:prstGeom prst="rect">
            <a:avLst/>
          </a:prstGeom>
          <a:noFill/>
          <a:ln/>
        </p:spPr>
        <p:txBody>
          <a:bodyPr wrap="square" lIns="0" tIns="0" rIns="0" bIns="0" rtlCol="0" anchor="ctr"/>
          <a:lstStyle/>
          <a:p>
            <a:pPr indent="0" marL="0">
              <a:buNone/>
            </a:pPr>
            <a:r>
              <a:rPr lang="en-US" sz="1200" b="1" dirty="0">
                <a:solidFill>
                  <a:srgbClr val="1E293B"/>
                </a:solidFill>
              </a:rPr>
              <a:t>High Finance / Low Strategy</a:t>
            </a:r>
            <a:endParaRPr lang="en-US" sz="1200" dirty="0"/>
          </a:p>
        </p:txBody>
      </p:sp>
      <p:sp>
        <p:nvSpPr>
          <p:cNvPr id="10" name="Text 8"/>
          <p:cNvSpPr/>
          <p:nvPr/>
        </p:nvSpPr>
        <p:spPr>
          <a:xfrm>
            <a:off x="457200" y="3291840"/>
            <a:ext cx="2423160" cy="1417320"/>
          </a:xfrm>
          <a:prstGeom prst="rect">
            <a:avLst/>
          </a:prstGeom>
          <a:noFill/>
          <a:ln/>
        </p:spPr>
        <p:txBody>
          <a:bodyPr wrap="square" lIns="0" tIns="0" rIns="0" bIns="0" rtlCol="0" anchor="ctr"/>
          <a:lstStyle/>
          <a:p>
            <a:pPr indent="0" marL="0">
              <a:buNone/>
            </a:pPr>
            <a:r>
              <a:rPr lang="en-US" sz="1100" dirty="0">
                <a:solidFill>
                  <a:srgbClr val="64748B"/>
                </a:solidFill>
              </a:rPr>
              <a:t>Strong cost control, weak strategic direction. Needs planning frameworks and OKR implementation.</a:t>
            </a:r>
            <a:endParaRPr lang="en-US" sz="1100" dirty="0"/>
          </a:p>
        </p:txBody>
      </p:sp>
      <p:sp>
        <p:nvSpPr>
          <p:cNvPr id="11" name="Shape 9"/>
          <p:cNvSpPr/>
          <p:nvPr/>
        </p:nvSpPr>
        <p:spPr>
          <a:xfrm>
            <a:off x="3246120" y="2011680"/>
            <a:ext cx="2724912" cy="2834640"/>
          </a:xfrm>
          <a:prstGeom prst="rect">
            <a:avLst/>
          </a:prstGeom>
          <a:solidFill>
            <a:srgbClr val="FFFFFF"/>
          </a:solidFill>
          <a:ln w="12700">
            <a:solidFill>
              <a:srgbClr val="E2E8F0"/>
            </a:solidFill>
            <a:prstDash val="solid"/>
          </a:ln>
        </p:spPr>
      </p:sp>
      <p:sp>
        <p:nvSpPr>
          <p:cNvPr id="12" name="Shape 10"/>
          <p:cNvSpPr/>
          <p:nvPr/>
        </p:nvSpPr>
        <p:spPr>
          <a:xfrm>
            <a:off x="3246120" y="2011680"/>
            <a:ext cx="2724912" cy="713232"/>
          </a:xfrm>
          <a:prstGeom prst="rect">
            <a:avLst/>
          </a:prstGeom>
          <a:solidFill>
            <a:srgbClr val="1C7293"/>
          </a:solidFill>
          <a:ln w="12700">
            <a:solidFill>
              <a:srgbClr val="1C7293"/>
            </a:solidFill>
            <a:prstDash val="solid"/>
          </a:ln>
        </p:spPr>
      </p:sp>
      <p:sp>
        <p:nvSpPr>
          <p:cNvPr id="13" name="Text 11"/>
          <p:cNvSpPr/>
          <p:nvPr/>
        </p:nvSpPr>
        <p:spPr>
          <a:xfrm>
            <a:off x="3246120" y="2029968"/>
            <a:ext cx="2724912" cy="347472"/>
          </a:xfrm>
          <a:prstGeom prst="rect">
            <a:avLst/>
          </a:prstGeom>
          <a:noFill/>
          <a:ln/>
        </p:spPr>
        <p:txBody>
          <a:bodyPr wrap="square" lIns="0" tIns="0" rIns="0" bIns="0" rtlCol="0" anchor="ctr"/>
          <a:lstStyle/>
          <a:p>
            <a:pPr algn="ctr" indent="0" marL="0">
              <a:buNone/>
            </a:pPr>
            <a:r>
              <a:rPr lang="en-US" sz="1500" b="1" dirty="0">
                <a:solidFill>
                  <a:srgbClr val="FFFFFF"/>
                </a:solidFill>
              </a:rPr>
              <a:t>Cluster C2</a:t>
            </a:r>
            <a:endParaRPr lang="en-US" sz="1500" dirty="0"/>
          </a:p>
        </p:txBody>
      </p:sp>
      <p:sp>
        <p:nvSpPr>
          <p:cNvPr id="14" name="Text 12"/>
          <p:cNvSpPr/>
          <p:nvPr/>
        </p:nvSpPr>
        <p:spPr>
          <a:xfrm>
            <a:off x="3246120" y="2377440"/>
            <a:ext cx="2724912" cy="320040"/>
          </a:xfrm>
          <a:prstGeom prst="rect">
            <a:avLst/>
          </a:prstGeom>
          <a:noFill/>
          <a:ln/>
        </p:spPr>
        <p:txBody>
          <a:bodyPr wrap="square" lIns="0" tIns="0" rIns="0" bIns="0" rtlCol="0" anchor="ctr"/>
          <a:lstStyle/>
          <a:p>
            <a:pPr algn="ctr" indent="0" marL="0">
              <a:buNone/>
            </a:pPr>
            <a:r>
              <a:rPr lang="en-US" sz="1000" i="1" dirty="0">
                <a:solidFill>
                  <a:srgbClr val="D4F5ED"/>
                </a:solidFill>
              </a:rPr>
              <a:t>All areas ~40–50%</a:t>
            </a:r>
            <a:endParaRPr lang="en-US" sz="1000" dirty="0"/>
          </a:p>
        </p:txBody>
      </p:sp>
      <p:sp>
        <p:nvSpPr>
          <p:cNvPr id="15" name="Text 13"/>
          <p:cNvSpPr/>
          <p:nvPr/>
        </p:nvSpPr>
        <p:spPr>
          <a:xfrm>
            <a:off x="3383280" y="2834640"/>
            <a:ext cx="2423160" cy="411480"/>
          </a:xfrm>
          <a:prstGeom prst="rect">
            <a:avLst/>
          </a:prstGeom>
          <a:noFill/>
          <a:ln/>
        </p:spPr>
        <p:txBody>
          <a:bodyPr wrap="square" lIns="0" tIns="0" rIns="0" bIns="0" rtlCol="0" anchor="ctr"/>
          <a:lstStyle/>
          <a:p>
            <a:pPr indent="0" marL="0">
              <a:buNone/>
            </a:pPr>
            <a:r>
              <a:rPr lang="en-US" sz="1200" b="1" dirty="0">
                <a:solidFill>
                  <a:srgbClr val="1E293B"/>
                </a:solidFill>
              </a:rPr>
              <a:t>Balanced Moderate</a:t>
            </a:r>
            <a:endParaRPr lang="en-US" sz="1200" dirty="0"/>
          </a:p>
        </p:txBody>
      </p:sp>
      <p:sp>
        <p:nvSpPr>
          <p:cNvPr id="16" name="Text 14"/>
          <p:cNvSpPr/>
          <p:nvPr/>
        </p:nvSpPr>
        <p:spPr>
          <a:xfrm>
            <a:off x="3383280" y="3291840"/>
            <a:ext cx="2423160" cy="1417320"/>
          </a:xfrm>
          <a:prstGeom prst="rect">
            <a:avLst/>
          </a:prstGeom>
          <a:noFill/>
          <a:ln/>
        </p:spPr>
        <p:txBody>
          <a:bodyPr wrap="square" lIns="0" tIns="0" rIns="0" bIns="0" rtlCol="0" anchor="ctr"/>
          <a:lstStyle/>
          <a:p>
            <a:pPr indent="0" marL="0">
              <a:buNone/>
            </a:pPr>
            <a:r>
              <a:rPr lang="en-US" sz="1100" dirty="0">
                <a:solidFill>
                  <a:srgbClr val="64748B"/>
                </a:solidFill>
              </a:rPr>
              <a:t>Consistent mid-range performance across all dimensions. Ready for optimization and BI layer.</a:t>
            </a:r>
            <a:endParaRPr lang="en-US" sz="1100" dirty="0"/>
          </a:p>
        </p:txBody>
      </p:sp>
      <p:sp>
        <p:nvSpPr>
          <p:cNvPr id="17" name="Shape 15"/>
          <p:cNvSpPr/>
          <p:nvPr/>
        </p:nvSpPr>
        <p:spPr>
          <a:xfrm>
            <a:off x="6172200" y="2011680"/>
            <a:ext cx="2724912" cy="2834640"/>
          </a:xfrm>
          <a:prstGeom prst="rect">
            <a:avLst/>
          </a:prstGeom>
          <a:solidFill>
            <a:srgbClr val="FFFFFF"/>
          </a:solidFill>
          <a:ln w="12700">
            <a:solidFill>
              <a:srgbClr val="E2E8F0"/>
            </a:solidFill>
            <a:prstDash val="solid"/>
          </a:ln>
        </p:spPr>
      </p:sp>
      <p:sp>
        <p:nvSpPr>
          <p:cNvPr id="18" name="Shape 16"/>
          <p:cNvSpPr/>
          <p:nvPr/>
        </p:nvSpPr>
        <p:spPr>
          <a:xfrm>
            <a:off x="6172200" y="2011680"/>
            <a:ext cx="2724912" cy="713232"/>
          </a:xfrm>
          <a:prstGeom prst="rect">
            <a:avLst/>
          </a:prstGeom>
          <a:solidFill>
            <a:srgbClr val="E63946"/>
          </a:solidFill>
          <a:ln w="12700">
            <a:solidFill>
              <a:srgbClr val="E63946"/>
            </a:solidFill>
            <a:prstDash val="solid"/>
          </a:ln>
        </p:spPr>
      </p:sp>
      <p:sp>
        <p:nvSpPr>
          <p:cNvPr id="19" name="Text 17"/>
          <p:cNvSpPr/>
          <p:nvPr/>
        </p:nvSpPr>
        <p:spPr>
          <a:xfrm>
            <a:off x="6172200" y="2029968"/>
            <a:ext cx="2724912" cy="347472"/>
          </a:xfrm>
          <a:prstGeom prst="rect">
            <a:avLst/>
          </a:prstGeom>
          <a:noFill/>
          <a:ln/>
        </p:spPr>
        <p:txBody>
          <a:bodyPr wrap="square" lIns="0" tIns="0" rIns="0" bIns="0" rtlCol="0" anchor="ctr"/>
          <a:lstStyle/>
          <a:p>
            <a:pPr algn="ctr" indent="0" marL="0">
              <a:buNone/>
            </a:pPr>
            <a:r>
              <a:rPr lang="en-US" sz="1500" b="1" dirty="0">
                <a:solidFill>
                  <a:srgbClr val="FFFFFF"/>
                </a:solidFill>
              </a:rPr>
              <a:t>Cluster C3</a:t>
            </a:r>
            <a:endParaRPr lang="en-US" sz="1500" dirty="0"/>
          </a:p>
        </p:txBody>
      </p:sp>
      <p:sp>
        <p:nvSpPr>
          <p:cNvPr id="20" name="Text 18"/>
          <p:cNvSpPr/>
          <p:nvPr/>
        </p:nvSpPr>
        <p:spPr>
          <a:xfrm>
            <a:off x="6172200" y="2377440"/>
            <a:ext cx="2724912" cy="320040"/>
          </a:xfrm>
          <a:prstGeom prst="rect">
            <a:avLst/>
          </a:prstGeom>
          <a:noFill/>
          <a:ln/>
        </p:spPr>
        <p:txBody>
          <a:bodyPr wrap="square" lIns="0" tIns="0" rIns="0" bIns="0" rtlCol="0" anchor="ctr"/>
          <a:lstStyle/>
          <a:p>
            <a:pPr algn="ctr" indent="0" marL="0">
              <a:buNone/>
            </a:pPr>
            <a:r>
              <a:rPr lang="en-US" sz="1000" i="1" dirty="0">
                <a:solidFill>
                  <a:srgbClr val="D4F5ED"/>
                </a:solidFill>
              </a:rPr>
              <a:t>All areas &lt; 30%</a:t>
            </a:r>
            <a:endParaRPr lang="en-US" sz="1000" dirty="0"/>
          </a:p>
        </p:txBody>
      </p:sp>
      <p:sp>
        <p:nvSpPr>
          <p:cNvPr id="21" name="Text 19"/>
          <p:cNvSpPr/>
          <p:nvPr/>
        </p:nvSpPr>
        <p:spPr>
          <a:xfrm>
            <a:off x="6309360" y="2834640"/>
            <a:ext cx="2423160" cy="411480"/>
          </a:xfrm>
          <a:prstGeom prst="rect">
            <a:avLst/>
          </a:prstGeom>
          <a:noFill/>
          <a:ln/>
        </p:spPr>
        <p:txBody>
          <a:bodyPr wrap="square" lIns="0" tIns="0" rIns="0" bIns="0" rtlCol="0" anchor="ctr"/>
          <a:lstStyle/>
          <a:p>
            <a:pPr indent="0" marL="0">
              <a:buNone/>
            </a:pPr>
            <a:r>
              <a:rPr lang="en-US" sz="1200" b="1" dirty="0">
                <a:solidFill>
                  <a:srgbClr val="1E293B"/>
                </a:solidFill>
              </a:rPr>
              <a:t>Low Maturity — Critical</a:t>
            </a:r>
            <a:endParaRPr lang="en-US" sz="1200" dirty="0"/>
          </a:p>
        </p:txBody>
      </p:sp>
      <p:sp>
        <p:nvSpPr>
          <p:cNvPr id="22" name="Text 20"/>
          <p:cNvSpPr/>
          <p:nvPr/>
        </p:nvSpPr>
        <p:spPr>
          <a:xfrm>
            <a:off x="6309360" y="3291840"/>
            <a:ext cx="2423160" cy="1417320"/>
          </a:xfrm>
          <a:prstGeom prst="rect">
            <a:avLst/>
          </a:prstGeom>
          <a:noFill/>
          <a:ln/>
        </p:spPr>
        <p:txBody>
          <a:bodyPr wrap="square" lIns="0" tIns="0" rIns="0" bIns="0" rtlCol="0" anchor="ctr"/>
          <a:lstStyle/>
          <a:p>
            <a:pPr indent="0" marL="0">
              <a:buNone/>
            </a:pPr>
            <a:r>
              <a:rPr lang="en-US" sz="1100" dirty="0">
                <a:solidFill>
                  <a:srgbClr val="64748B"/>
                </a:solidFill>
              </a:rPr>
              <a:t>Critical gaps across all dimensions. Highest priority for immediate intervention and structuring.</a:t>
            </a:r>
            <a:endParaRPr lang="en-US" sz="1100" dirty="0"/>
          </a:p>
        </p:txBody>
      </p:sp>
      <p:sp>
        <p:nvSpPr>
          <p:cNvPr id="23" name="Text 21"/>
          <p:cNvSpPr/>
          <p:nvPr/>
        </p:nvSpPr>
        <p:spPr>
          <a:xfrm>
            <a:off x="365760" y="4956048"/>
            <a:ext cx="8412480" cy="182880"/>
          </a:xfrm>
          <a:prstGeom prst="rect">
            <a:avLst/>
          </a:prstGeom>
          <a:noFill/>
          <a:ln/>
        </p:spPr>
        <p:txBody>
          <a:bodyPr wrap="square" lIns="0" tIns="0" rIns="0" bIns="0" rtlCol="0" anchor="ctr"/>
          <a:lstStyle/>
          <a:p>
            <a:pPr indent="0" marL="0">
              <a:buNone/>
            </a:pPr>
            <a:r>
              <a:rPr lang="en-US" sz="800" i="1" dirty="0">
                <a:solidFill>
                  <a:srgbClr val="64748B"/>
                </a:solidFill>
              </a:rPr>
              <a:t>* Clustering applied to anonymized score matrix. Profiles reflect anonymized patterns observed during the diagnostic process.</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D1B3E"/>
          </a:solidFill>
          <a:ln w="12700">
            <a:solidFill>
              <a:srgbClr val="0D1B3E"/>
            </a:solidFill>
            <a:prstDash val="solid"/>
          </a:ln>
        </p:spPr>
      </p:sp>
      <p:sp>
        <p:nvSpPr>
          <p:cNvPr id="3" name="Text 1"/>
          <p:cNvSpPr/>
          <p:nvPr/>
        </p:nvSpPr>
        <p:spPr>
          <a:xfrm>
            <a:off x="365760" y="0"/>
            <a:ext cx="7772400" cy="960120"/>
          </a:xfrm>
          <a:prstGeom prst="rect">
            <a:avLst/>
          </a:prstGeom>
          <a:noFill/>
          <a:ln/>
        </p:spPr>
        <p:txBody>
          <a:bodyPr wrap="square" lIns="0" tIns="0" rIns="0" bIns="0" rtlCol="0" anchor="ctr"/>
          <a:lstStyle/>
          <a:p>
            <a:pPr indent="0" marL="0">
              <a:buNone/>
            </a:pPr>
            <a:r>
              <a:rPr lang="en-US" sz="1900" b="1" dirty="0">
                <a:solidFill>
                  <a:srgbClr val="FFFFFF"/>
                </a:solidFill>
              </a:rPr>
              <a:t>ESTIMATED IMPACT — DATA-DRIVEN INTERVENTIONS</a:t>
            </a:r>
            <a:endParaRPr lang="en-US" sz="1900" dirty="0"/>
          </a:p>
        </p:txBody>
      </p:sp>
      <p:sp>
        <p:nvSpPr>
          <p:cNvPr id="4" name="Text 2"/>
          <p:cNvSpPr/>
          <p:nvPr/>
        </p:nvSpPr>
        <p:spPr>
          <a:xfrm>
            <a:off x="365760" y="1078992"/>
            <a:ext cx="8412480" cy="292608"/>
          </a:xfrm>
          <a:prstGeom prst="rect">
            <a:avLst/>
          </a:prstGeom>
          <a:noFill/>
          <a:ln/>
        </p:spPr>
        <p:txBody>
          <a:bodyPr wrap="square" lIns="0" tIns="0" rIns="0" bIns="0" rtlCol="0" anchor="ctr"/>
          <a:lstStyle/>
          <a:p>
            <a:pPr indent="0" marL="0">
              <a:buNone/>
            </a:pPr>
            <a:r>
              <a:rPr lang="en-US" sz="1100" i="1" dirty="0">
                <a:solidFill>
                  <a:srgbClr val="64748B"/>
                </a:solidFill>
              </a:rPr>
              <a:t>Based on internal diagnostic patterns and conservative scenario assumptions:</a:t>
            </a:r>
            <a:endParaRPr lang="en-US" sz="1100" dirty="0"/>
          </a:p>
        </p:txBody>
      </p:sp>
      <p:sp>
        <p:nvSpPr>
          <p:cNvPr id="5" name="Shape 3"/>
          <p:cNvSpPr/>
          <p:nvPr/>
        </p:nvSpPr>
        <p:spPr>
          <a:xfrm>
            <a:off x="365760" y="1463040"/>
            <a:ext cx="2697480" cy="1417320"/>
          </a:xfrm>
          <a:prstGeom prst="rect">
            <a:avLst/>
          </a:prstGeom>
          <a:solidFill>
            <a:srgbClr val="028090"/>
          </a:solidFill>
          <a:ln w="12700">
            <a:solidFill>
              <a:srgbClr val="028090"/>
            </a:solidFill>
            <a:prstDash val="solid"/>
          </a:ln>
        </p:spPr>
      </p:sp>
      <p:sp>
        <p:nvSpPr>
          <p:cNvPr id="6" name="Text 4"/>
          <p:cNvSpPr/>
          <p:nvPr/>
        </p:nvSpPr>
        <p:spPr>
          <a:xfrm>
            <a:off x="365760" y="1536192"/>
            <a:ext cx="2697480" cy="594360"/>
          </a:xfrm>
          <a:prstGeom prst="rect">
            <a:avLst/>
          </a:prstGeom>
          <a:noFill/>
          <a:ln/>
        </p:spPr>
        <p:txBody>
          <a:bodyPr wrap="square" lIns="0" tIns="0" rIns="0" bIns="0" rtlCol="0" anchor="ctr"/>
          <a:lstStyle/>
          <a:p>
            <a:pPr algn="ctr" indent="0" marL="0">
              <a:buNone/>
            </a:pPr>
            <a:r>
              <a:rPr lang="en-US" sz="3200" b="1" dirty="0">
                <a:solidFill>
                  <a:srgbClr val="FFFFFF"/>
                </a:solidFill>
              </a:rPr>
              <a:t>12–18%</a:t>
            </a:r>
            <a:endParaRPr lang="en-US" sz="3200" dirty="0"/>
          </a:p>
        </p:txBody>
      </p:sp>
      <p:sp>
        <p:nvSpPr>
          <p:cNvPr id="7" name="Text 5"/>
          <p:cNvSpPr/>
          <p:nvPr/>
        </p:nvSpPr>
        <p:spPr>
          <a:xfrm>
            <a:off x="365760" y="2148840"/>
            <a:ext cx="2697480" cy="384048"/>
          </a:xfrm>
          <a:prstGeom prst="rect">
            <a:avLst/>
          </a:prstGeom>
          <a:noFill/>
          <a:ln/>
        </p:spPr>
        <p:txBody>
          <a:bodyPr wrap="square" lIns="0" tIns="0" rIns="0" bIns="0" rtlCol="0" anchor="ctr"/>
          <a:lstStyle/>
          <a:p>
            <a:pPr algn="ctr" indent="0" marL="0">
              <a:buNone/>
            </a:pPr>
            <a:r>
              <a:rPr lang="en-US" sz="1000" b="1" dirty="0">
                <a:solidFill>
                  <a:srgbClr val="FFFFFF"/>
                </a:solidFill>
              </a:rPr>
              <a:t>Estimated cost reduction potential</a:t>
            </a:r>
            <a:endParaRPr lang="en-US" sz="1000" dirty="0"/>
          </a:p>
        </p:txBody>
      </p:sp>
      <p:sp>
        <p:nvSpPr>
          <p:cNvPr id="8" name="Text 6"/>
          <p:cNvSpPr/>
          <p:nvPr/>
        </p:nvSpPr>
        <p:spPr>
          <a:xfrm>
            <a:off x="365760" y="2532888"/>
            <a:ext cx="2697480" cy="292608"/>
          </a:xfrm>
          <a:prstGeom prst="rect">
            <a:avLst/>
          </a:prstGeom>
          <a:noFill/>
          <a:ln/>
        </p:spPr>
        <p:txBody>
          <a:bodyPr wrap="square" lIns="0" tIns="0" rIns="0" bIns="0" rtlCol="0" anchor="ctr"/>
          <a:lstStyle/>
          <a:p>
            <a:pPr algn="ctr" indent="0" marL="0">
              <a:buNone/>
            </a:pPr>
            <a:r>
              <a:rPr lang="en-US" sz="800" i="1" dirty="0">
                <a:solidFill>
                  <a:srgbClr val="D4F5ED"/>
                </a:solidFill>
              </a:rPr>
              <a:t>conservative scenario — fixed-cost rationalization &amp; workforce opt.</a:t>
            </a:r>
            <a:endParaRPr lang="en-US" sz="800" dirty="0"/>
          </a:p>
        </p:txBody>
      </p:sp>
      <p:sp>
        <p:nvSpPr>
          <p:cNvPr id="9" name="Shape 7"/>
          <p:cNvSpPr/>
          <p:nvPr/>
        </p:nvSpPr>
        <p:spPr>
          <a:xfrm>
            <a:off x="3246120" y="1463040"/>
            <a:ext cx="2697480" cy="1417320"/>
          </a:xfrm>
          <a:prstGeom prst="rect">
            <a:avLst/>
          </a:prstGeom>
          <a:solidFill>
            <a:srgbClr val="1C7293"/>
          </a:solidFill>
          <a:ln w="12700">
            <a:solidFill>
              <a:srgbClr val="1C7293"/>
            </a:solidFill>
            <a:prstDash val="solid"/>
          </a:ln>
        </p:spPr>
      </p:sp>
      <p:sp>
        <p:nvSpPr>
          <p:cNvPr id="10" name="Text 8"/>
          <p:cNvSpPr/>
          <p:nvPr/>
        </p:nvSpPr>
        <p:spPr>
          <a:xfrm>
            <a:off x="3246120" y="1536192"/>
            <a:ext cx="2697480" cy="594360"/>
          </a:xfrm>
          <a:prstGeom prst="rect">
            <a:avLst/>
          </a:prstGeom>
          <a:noFill/>
          <a:ln/>
        </p:spPr>
        <p:txBody>
          <a:bodyPr wrap="square" lIns="0" tIns="0" rIns="0" bIns="0" rtlCol="0" anchor="ctr"/>
          <a:lstStyle/>
          <a:p>
            <a:pPr algn="ctr" indent="0" marL="0">
              <a:buNone/>
            </a:pPr>
            <a:r>
              <a:rPr lang="en-US" sz="3200" b="1" dirty="0">
                <a:solidFill>
                  <a:srgbClr val="FFFFFF"/>
                </a:solidFill>
              </a:rPr>
              <a:t>~25%</a:t>
            </a:r>
            <a:endParaRPr lang="en-US" sz="3200" dirty="0"/>
          </a:p>
        </p:txBody>
      </p:sp>
      <p:sp>
        <p:nvSpPr>
          <p:cNvPr id="11" name="Text 9"/>
          <p:cNvSpPr/>
          <p:nvPr/>
        </p:nvSpPr>
        <p:spPr>
          <a:xfrm>
            <a:off x="3246120" y="2148840"/>
            <a:ext cx="2697480" cy="384048"/>
          </a:xfrm>
          <a:prstGeom prst="rect">
            <a:avLst/>
          </a:prstGeom>
          <a:noFill/>
          <a:ln/>
        </p:spPr>
        <p:txBody>
          <a:bodyPr wrap="square" lIns="0" tIns="0" rIns="0" bIns="0" rtlCol="0" anchor="ctr"/>
          <a:lstStyle/>
          <a:p>
            <a:pPr algn="ctr" indent="0" marL="0">
              <a:buNone/>
            </a:pPr>
            <a:r>
              <a:rPr lang="en-US" sz="1000" b="1" dirty="0">
                <a:solidFill>
                  <a:srgbClr val="FFFFFF"/>
                </a:solidFill>
              </a:rPr>
              <a:t>Potential improvement in strategic alignment</a:t>
            </a:r>
            <a:endParaRPr lang="en-US" sz="1000" dirty="0"/>
          </a:p>
        </p:txBody>
      </p:sp>
      <p:sp>
        <p:nvSpPr>
          <p:cNvPr id="12" name="Text 10"/>
          <p:cNvSpPr/>
          <p:nvPr/>
        </p:nvSpPr>
        <p:spPr>
          <a:xfrm>
            <a:off x="3246120" y="2532888"/>
            <a:ext cx="2697480" cy="292608"/>
          </a:xfrm>
          <a:prstGeom prst="rect">
            <a:avLst/>
          </a:prstGeom>
          <a:noFill/>
          <a:ln/>
        </p:spPr>
        <p:txBody>
          <a:bodyPr wrap="square" lIns="0" tIns="0" rIns="0" bIns="0" rtlCol="0" anchor="ctr"/>
          <a:lstStyle/>
          <a:p>
            <a:pPr algn="ctr" indent="0" marL="0">
              <a:buNone/>
            </a:pPr>
            <a:r>
              <a:rPr lang="en-US" sz="800" i="1" dirty="0">
                <a:solidFill>
                  <a:srgbClr val="D4F5ED"/>
                </a:solidFill>
              </a:rPr>
              <a:t>modeled estimate — OKR framework and short-term planning</a:t>
            </a:r>
            <a:endParaRPr lang="en-US" sz="800" dirty="0"/>
          </a:p>
        </p:txBody>
      </p:sp>
      <p:sp>
        <p:nvSpPr>
          <p:cNvPr id="13" name="Shape 11"/>
          <p:cNvSpPr/>
          <p:nvPr/>
        </p:nvSpPr>
        <p:spPr>
          <a:xfrm>
            <a:off x="6126480" y="1463040"/>
            <a:ext cx="2697480" cy="1417320"/>
          </a:xfrm>
          <a:prstGeom prst="rect">
            <a:avLst/>
          </a:prstGeom>
          <a:solidFill>
            <a:srgbClr val="F4A261"/>
          </a:solidFill>
          <a:ln w="12700">
            <a:solidFill>
              <a:srgbClr val="F4A261"/>
            </a:solidFill>
            <a:prstDash val="solid"/>
          </a:ln>
        </p:spPr>
      </p:sp>
      <p:sp>
        <p:nvSpPr>
          <p:cNvPr id="14" name="Text 12"/>
          <p:cNvSpPr/>
          <p:nvPr/>
        </p:nvSpPr>
        <p:spPr>
          <a:xfrm>
            <a:off x="6126480" y="1536192"/>
            <a:ext cx="2697480" cy="594360"/>
          </a:xfrm>
          <a:prstGeom prst="rect">
            <a:avLst/>
          </a:prstGeom>
          <a:noFill/>
          <a:ln/>
        </p:spPr>
        <p:txBody>
          <a:bodyPr wrap="square" lIns="0" tIns="0" rIns="0" bIns="0" rtlCol="0" anchor="ctr"/>
          <a:lstStyle/>
          <a:p>
            <a:pPr algn="ctr" indent="0" marL="0">
              <a:buNone/>
            </a:pPr>
            <a:r>
              <a:rPr lang="en-US" sz="3200" b="1" dirty="0">
                <a:solidFill>
                  <a:srgbClr val="FFFFFF"/>
                </a:solidFill>
              </a:rPr>
              <a:t>↓ Risk</a:t>
            </a:r>
            <a:endParaRPr lang="en-US" sz="3200" dirty="0"/>
          </a:p>
        </p:txBody>
      </p:sp>
      <p:sp>
        <p:nvSpPr>
          <p:cNvPr id="15" name="Text 13"/>
          <p:cNvSpPr/>
          <p:nvPr/>
        </p:nvSpPr>
        <p:spPr>
          <a:xfrm>
            <a:off x="6126480" y="2148840"/>
            <a:ext cx="2697480" cy="384048"/>
          </a:xfrm>
          <a:prstGeom prst="rect">
            <a:avLst/>
          </a:prstGeom>
          <a:noFill/>
          <a:ln/>
        </p:spPr>
        <p:txBody>
          <a:bodyPr wrap="square" lIns="0" tIns="0" rIns="0" bIns="0" rtlCol="0" anchor="ctr"/>
          <a:lstStyle/>
          <a:p>
            <a:pPr algn="ctr" indent="0" marL="0">
              <a:buNone/>
            </a:pPr>
            <a:r>
              <a:rPr lang="en-US" sz="1000" b="1" dirty="0">
                <a:solidFill>
                  <a:srgbClr val="FFFFFF"/>
                </a:solidFill>
              </a:rPr>
              <a:t>Potential liquidity risk exposure</a:t>
            </a:r>
            <a:endParaRPr lang="en-US" sz="1000" dirty="0"/>
          </a:p>
        </p:txBody>
      </p:sp>
      <p:sp>
        <p:nvSpPr>
          <p:cNvPr id="16" name="Text 14"/>
          <p:cNvSpPr/>
          <p:nvPr/>
        </p:nvSpPr>
        <p:spPr>
          <a:xfrm>
            <a:off x="6126480" y="2532888"/>
            <a:ext cx="2697480" cy="292608"/>
          </a:xfrm>
          <a:prstGeom prst="rect">
            <a:avLst/>
          </a:prstGeom>
          <a:noFill/>
          <a:ln/>
        </p:spPr>
        <p:txBody>
          <a:bodyPr wrap="square" lIns="0" tIns="0" rIns="0" bIns="0" rtlCol="0" anchor="ctr"/>
          <a:lstStyle/>
          <a:p>
            <a:pPr algn="ctr" indent="0" marL="0">
              <a:buNone/>
            </a:pPr>
            <a:r>
              <a:rPr lang="en-US" sz="800" i="1" dirty="0">
                <a:solidFill>
                  <a:srgbClr val="D4F5ED"/>
                </a:solidFill>
              </a:rPr>
              <a:t>estimated — future cash-flow forecasting models (proposed)</a:t>
            </a:r>
            <a:endParaRPr lang="en-US" sz="800" dirty="0"/>
          </a:p>
        </p:txBody>
      </p:sp>
      <p:graphicFrame>
        <p:nvGraphicFramePr>
          <p:cNvPr id="17" name="Chart 0" descr=""/>
          <p:cNvGraphicFramePr/>
          <p:nvPr/>
        </p:nvGraphicFramePr>
        <p:xfrm>
          <a:off x="365760" y="3063240"/>
          <a:ext cx="8412480" cy="1828800"/>
        </p:xfrm>
        <a:graphic xmlns:a="http://schemas.openxmlformats.org/drawingml/2006/main">
          <a:graphicData uri="http://schemas.openxmlformats.org/drawingml/2006/chart">
            <c:chart xmlns:c="http://schemas.openxmlformats.org/drawingml/2006/chart" r:id="rId1"/>
          </a:graphicData>
        </a:graphic>
      </p:graphicFrame>
      <p:sp>
        <p:nvSpPr>
          <p:cNvPr id="18" name="Text 15"/>
          <p:cNvSpPr/>
          <p:nvPr/>
        </p:nvSpPr>
        <p:spPr>
          <a:xfrm>
            <a:off x="365760" y="4965192"/>
            <a:ext cx="8412480" cy="182880"/>
          </a:xfrm>
          <a:prstGeom prst="rect">
            <a:avLst/>
          </a:prstGeom>
          <a:noFill/>
          <a:ln/>
        </p:spPr>
        <p:txBody>
          <a:bodyPr wrap="square" lIns="0" tIns="0" rIns="0" bIns="0" rtlCol="0" anchor="ctr"/>
          <a:lstStyle/>
          <a:p>
            <a:pPr indent="0" marL="0">
              <a:buNone/>
            </a:pPr>
            <a:r>
              <a:rPr lang="en-US" sz="800" i="1" dirty="0">
                <a:solidFill>
                  <a:srgbClr val="64748B"/>
                </a:solidFill>
              </a:rPr>
              <a:t>* Modeled estimates, not guaranteed outcomes. Based on diagnostic patterns and conservative scenario modeling.</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B3E"/>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D1B3E"/>
          </a:solidFill>
          <a:ln w="12700">
            <a:solidFill>
              <a:srgbClr val="0D1B3E"/>
            </a:solidFill>
            <a:prstDash val="solid"/>
          </a:ln>
        </p:spPr>
      </p:sp>
      <p:sp>
        <p:nvSpPr>
          <p:cNvPr id="3" name="Text 1"/>
          <p:cNvSpPr/>
          <p:nvPr/>
        </p:nvSpPr>
        <p:spPr>
          <a:xfrm>
            <a:off x="365760" y="0"/>
            <a:ext cx="6400800" cy="640080"/>
          </a:xfrm>
          <a:prstGeom prst="rect">
            <a:avLst/>
          </a:prstGeom>
          <a:noFill/>
          <a:ln/>
        </p:spPr>
        <p:txBody>
          <a:bodyPr wrap="square" lIns="0" tIns="0" rIns="0" bIns="0" rtlCol="0" anchor="ctr"/>
          <a:lstStyle/>
          <a:p>
            <a:pPr indent="0" marL="0">
              <a:buNone/>
            </a:pPr>
            <a:r>
              <a:rPr lang="en-US" sz="1800" b="1" dirty="0">
                <a:solidFill>
                  <a:srgbClr val="FFFFFF"/>
                </a:solidFill>
              </a:rPr>
              <a:t>TREND FORECAST &amp; IMPACT DASHBOARD</a:t>
            </a:r>
            <a:endParaRPr lang="en-US" sz="1800" dirty="0"/>
          </a:p>
        </p:txBody>
      </p:sp>
      <p:sp>
        <p:nvSpPr>
          <p:cNvPr id="4" name="Text 2"/>
          <p:cNvSpPr/>
          <p:nvPr/>
        </p:nvSpPr>
        <p:spPr>
          <a:xfrm>
            <a:off x="5029200" y="0"/>
            <a:ext cx="3840480" cy="640080"/>
          </a:xfrm>
          <a:prstGeom prst="rect">
            <a:avLst/>
          </a:prstGeom>
          <a:noFill/>
          <a:ln/>
        </p:spPr>
        <p:txBody>
          <a:bodyPr wrap="square" lIns="0" tIns="0" rIns="0" bIns="0" rtlCol="0" anchor="ctr"/>
          <a:lstStyle/>
          <a:p>
            <a:pPr algn="r" indent="0" marL="0">
              <a:buNone/>
            </a:pPr>
            <a:r>
              <a:rPr lang="en-US" sz="1000" i="1" dirty="0">
                <a:solidFill>
                  <a:srgbClr val="02C39A"/>
                </a:solidFill>
              </a:rPr>
              <a:t>18 mo historical · 6 mo forecast · Intervention impact</a:t>
            </a:r>
            <a:endParaRPr lang="en-US" sz="1000" dirty="0"/>
          </a:p>
        </p:txBody>
      </p:sp>
      <p:pic>
        <p:nvPicPr>
          <p:cNvPr id="5" name="Image 0" descr="preencoded.png">    </p:cNvPr>
          <p:cNvPicPr>
            <a:picLocks noChangeAspect="1"/>
          </p:cNvPicPr>
          <p:nvPr/>
        </p:nvPicPr>
        <p:blipFill>
          <a:blip r:embed="rId1"/>
          <a:stretch>
            <a:fillRect/>
          </a:stretch>
        </p:blipFill>
        <p:spPr>
          <a:xfrm>
            <a:off x="137160" y="685800"/>
            <a:ext cx="8869680" cy="4343400"/>
          </a:xfrm>
          <a:prstGeom prst="rect">
            <a:avLst/>
          </a:prstGeom>
        </p:spPr>
      </p:pic>
      <p:sp>
        <p:nvSpPr>
          <p:cNvPr id="6" name="Text 3"/>
          <p:cNvSpPr/>
          <p:nvPr/>
        </p:nvSpPr>
        <p:spPr>
          <a:xfrm>
            <a:off x="365760" y="4919472"/>
            <a:ext cx="8412480" cy="201168"/>
          </a:xfrm>
          <a:prstGeom prst="rect">
            <a:avLst/>
          </a:prstGeom>
          <a:noFill/>
          <a:ln/>
        </p:spPr>
        <p:txBody>
          <a:bodyPr wrap="square" lIns="0" tIns="0" rIns="0" bIns="0" rtlCol="0" anchor="ctr"/>
          <a:lstStyle/>
          <a:p>
            <a:pPr indent="0" marL="0">
              <a:buNone/>
            </a:pPr>
            <a:r>
              <a:rPr lang="en-US" sz="800" i="1" dirty="0">
                <a:solidFill>
                  <a:srgbClr val="64748B"/>
                </a:solidFill>
              </a:rPr>
              <a:t>Python · matplotlib  |  Linear regression trend + ±2.5 pt confidence band  |  Conservative scenario modeled estimates</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E63946"/>
          </a:solidFill>
          <a:ln w="12700">
            <a:solidFill>
              <a:srgbClr val="E63946"/>
            </a:solidFill>
            <a:prstDash val="solid"/>
          </a:ln>
        </p:spPr>
      </p:sp>
      <p:sp>
        <p:nvSpPr>
          <p:cNvPr id="3" name="Text 1"/>
          <p:cNvSpPr/>
          <p:nvPr/>
        </p:nvSpPr>
        <p:spPr>
          <a:xfrm>
            <a:off x="365760" y="0"/>
            <a:ext cx="8229600" cy="960120"/>
          </a:xfrm>
          <a:prstGeom prst="rect">
            <a:avLst/>
          </a:prstGeom>
          <a:noFill/>
          <a:ln/>
        </p:spPr>
        <p:txBody>
          <a:bodyPr wrap="square" lIns="0" tIns="0" rIns="0" bIns="0" rtlCol="0" anchor="ctr"/>
          <a:lstStyle/>
          <a:p>
            <a:pPr indent="0" marL="0">
              <a:buNone/>
            </a:pPr>
            <a:r>
              <a:rPr lang="en-US" sz="2100" b="1" dirty="0">
                <a:solidFill>
                  <a:srgbClr val="FFFFFF"/>
                </a:solidFill>
              </a:rPr>
              <a:t>CRITICAL FINDINGS — THE 5 WORST INDICATORS</a:t>
            </a:r>
            <a:endParaRPr lang="en-US" sz="2100" dirty="0"/>
          </a:p>
        </p:txBody>
      </p:sp>
      <p:sp>
        <p:nvSpPr>
          <p:cNvPr id="4" name="Shape 2"/>
          <p:cNvSpPr/>
          <p:nvPr/>
        </p:nvSpPr>
        <p:spPr>
          <a:xfrm>
            <a:off x="320040" y="1078992"/>
            <a:ext cx="8503920" cy="694944"/>
          </a:xfrm>
          <a:prstGeom prst="rect">
            <a:avLst/>
          </a:prstGeom>
          <a:solidFill>
            <a:srgbClr val="FFF5F5"/>
          </a:solidFill>
          <a:ln w="12700">
            <a:solidFill>
              <a:srgbClr val="FFCCCC"/>
            </a:solidFill>
            <a:prstDash val="solid"/>
          </a:ln>
        </p:spPr>
      </p:sp>
      <p:sp>
        <p:nvSpPr>
          <p:cNvPr id="5" name="Shape 3"/>
          <p:cNvSpPr/>
          <p:nvPr/>
        </p:nvSpPr>
        <p:spPr>
          <a:xfrm>
            <a:off x="320040" y="1078992"/>
            <a:ext cx="54864" cy="694944"/>
          </a:xfrm>
          <a:prstGeom prst="rect">
            <a:avLst/>
          </a:prstGeom>
          <a:solidFill>
            <a:srgbClr val="E63946"/>
          </a:solidFill>
          <a:ln w="12700">
            <a:solidFill>
              <a:srgbClr val="E63946"/>
            </a:solidFill>
            <a:prstDash val="solid"/>
          </a:ln>
        </p:spPr>
      </p:sp>
      <p:sp>
        <p:nvSpPr>
          <p:cNvPr id="6" name="Shape 4"/>
          <p:cNvSpPr/>
          <p:nvPr/>
        </p:nvSpPr>
        <p:spPr>
          <a:xfrm>
            <a:off x="457200" y="1197864"/>
            <a:ext cx="749808" cy="457200"/>
          </a:xfrm>
          <a:prstGeom prst="rect">
            <a:avLst/>
          </a:prstGeom>
          <a:solidFill>
            <a:srgbClr val="E63946"/>
          </a:solidFill>
          <a:ln w="12700">
            <a:solidFill>
              <a:srgbClr val="E63946"/>
            </a:solidFill>
            <a:prstDash val="solid"/>
          </a:ln>
        </p:spPr>
      </p:sp>
      <p:sp>
        <p:nvSpPr>
          <p:cNvPr id="7" name="Text 5"/>
          <p:cNvSpPr/>
          <p:nvPr/>
        </p:nvSpPr>
        <p:spPr>
          <a:xfrm>
            <a:off x="457200" y="1197864"/>
            <a:ext cx="749808" cy="457200"/>
          </a:xfrm>
          <a:prstGeom prst="rect">
            <a:avLst/>
          </a:prstGeom>
          <a:noFill/>
          <a:ln/>
        </p:spPr>
        <p:txBody>
          <a:bodyPr wrap="square" lIns="0" tIns="0" rIns="0" bIns="0" rtlCol="0" anchor="ctr"/>
          <a:lstStyle/>
          <a:p>
            <a:pPr algn="ctr" indent="0" marL="0">
              <a:buNone/>
            </a:pPr>
            <a:r>
              <a:rPr lang="en-US" sz="1300" b="1" dirty="0">
                <a:solidFill>
                  <a:srgbClr val="FFFFFF"/>
                </a:solidFill>
              </a:rPr>
              <a:t>25%</a:t>
            </a:r>
            <a:endParaRPr lang="en-US" sz="1300" dirty="0"/>
          </a:p>
        </p:txBody>
      </p:sp>
      <p:sp>
        <p:nvSpPr>
          <p:cNvPr id="8" name="Text 6"/>
          <p:cNvSpPr/>
          <p:nvPr/>
        </p:nvSpPr>
        <p:spPr>
          <a:xfrm>
            <a:off x="1325880" y="1143000"/>
            <a:ext cx="7315200" cy="274320"/>
          </a:xfrm>
          <a:prstGeom prst="rect">
            <a:avLst/>
          </a:prstGeom>
          <a:noFill/>
          <a:ln/>
        </p:spPr>
        <p:txBody>
          <a:bodyPr wrap="square" lIns="0" tIns="0" rIns="0" bIns="0" rtlCol="0" anchor="ctr"/>
          <a:lstStyle/>
          <a:p>
            <a:pPr indent="0" marL="0">
              <a:buNone/>
            </a:pPr>
            <a:r>
              <a:rPr lang="en-US" sz="1200" b="1" dirty="0">
                <a:solidFill>
                  <a:srgbClr val="1E293B"/>
                </a:solidFill>
              </a:rPr>
              <a:t>Short-term strategic planning</a:t>
            </a:r>
            <a:endParaRPr lang="en-US" sz="1200" dirty="0"/>
          </a:p>
        </p:txBody>
      </p:sp>
      <p:sp>
        <p:nvSpPr>
          <p:cNvPr id="9" name="Text 7"/>
          <p:cNvSpPr/>
          <p:nvPr/>
        </p:nvSpPr>
        <p:spPr>
          <a:xfrm>
            <a:off x="1325880" y="1453896"/>
            <a:ext cx="7315200" cy="256032"/>
          </a:xfrm>
          <a:prstGeom prst="rect">
            <a:avLst/>
          </a:prstGeom>
          <a:noFill/>
          <a:ln/>
        </p:spPr>
        <p:txBody>
          <a:bodyPr wrap="square" lIns="0" tIns="0" rIns="0" bIns="0" rtlCol="0" anchor="ctr"/>
          <a:lstStyle/>
          <a:p>
            <a:pPr indent="0" marL="0">
              <a:buNone/>
            </a:pPr>
            <a:r>
              <a:rPr lang="en-US" sz="1000" i="1" dirty="0">
                <a:solidFill>
                  <a:srgbClr val="64748B"/>
                </a:solidFill>
              </a:rPr>
              <a:t>Absence of OKRs — roadmapping framework recommended.</a:t>
            </a:r>
            <a:endParaRPr lang="en-US" sz="1000" dirty="0"/>
          </a:p>
        </p:txBody>
      </p:sp>
      <p:sp>
        <p:nvSpPr>
          <p:cNvPr id="10" name="Shape 8"/>
          <p:cNvSpPr/>
          <p:nvPr/>
        </p:nvSpPr>
        <p:spPr>
          <a:xfrm>
            <a:off x="320040" y="1865376"/>
            <a:ext cx="8503920" cy="694944"/>
          </a:xfrm>
          <a:prstGeom prst="rect">
            <a:avLst/>
          </a:prstGeom>
          <a:solidFill>
            <a:srgbClr val="FFFFFF"/>
          </a:solidFill>
          <a:ln w="12700">
            <a:solidFill>
              <a:srgbClr val="FFCCCC"/>
            </a:solidFill>
            <a:prstDash val="solid"/>
          </a:ln>
        </p:spPr>
      </p:sp>
      <p:sp>
        <p:nvSpPr>
          <p:cNvPr id="11" name="Shape 9"/>
          <p:cNvSpPr/>
          <p:nvPr/>
        </p:nvSpPr>
        <p:spPr>
          <a:xfrm>
            <a:off x="320040" y="1865376"/>
            <a:ext cx="54864" cy="694944"/>
          </a:xfrm>
          <a:prstGeom prst="rect">
            <a:avLst/>
          </a:prstGeom>
          <a:solidFill>
            <a:srgbClr val="E63946"/>
          </a:solidFill>
          <a:ln w="12700">
            <a:solidFill>
              <a:srgbClr val="E63946"/>
            </a:solidFill>
            <a:prstDash val="solid"/>
          </a:ln>
        </p:spPr>
      </p:sp>
      <p:sp>
        <p:nvSpPr>
          <p:cNvPr id="12" name="Shape 10"/>
          <p:cNvSpPr/>
          <p:nvPr/>
        </p:nvSpPr>
        <p:spPr>
          <a:xfrm>
            <a:off x="457200" y="1984248"/>
            <a:ext cx="749808" cy="457200"/>
          </a:xfrm>
          <a:prstGeom prst="rect">
            <a:avLst/>
          </a:prstGeom>
          <a:solidFill>
            <a:srgbClr val="E63946"/>
          </a:solidFill>
          <a:ln w="12700">
            <a:solidFill>
              <a:srgbClr val="E63946"/>
            </a:solidFill>
            <a:prstDash val="solid"/>
          </a:ln>
        </p:spPr>
      </p:sp>
      <p:sp>
        <p:nvSpPr>
          <p:cNvPr id="13" name="Text 11"/>
          <p:cNvSpPr/>
          <p:nvPr/>
        </p:nvSpPr>
        <p:spPr>
          <a:xfrm>
            <a:off x="457200" y="1984248"/>
            <a:ext cx="749808" cy="457200"/>
          </a:xfrm>
          <a:prstGeom prst="rect">
            <a:avLst/>
          </a:prstGeom>
          <a:noFill/>
          <a:ln/>
        </p:spPr>
        <p:txBody>
          <a:bodyPr wrap="square" lIns="0" tIns="0" rIns="0" bIns="0" rtlCol="0" anchor="ctr"/>
          <a:lstStyle/>
          <a:p>
            <a:pPr algn="ctr" indent="0" marL="0">
              <a:buNone/>
            </a:pPr>
            <a:r>
              <a:rPr lang="en-US" sz="1300" b="1" dirty="0">
                <a:solidFill>
                  <a:srgbClr val="FFFFFF"/>
                </a:solidFill>
              </a:rPr>
              <a:t>50%</a:t>
            </a:r>
            <a:endParaRPr lang="en-US" sz="1300" dirty="0"/>
          </a:p>
        </p:txBody>
      </p:sp>
      <p:sp>
        <p:nvSpPr>
          <p:cNvPr id="14" name="Text 12"/>
          <p:cNvSpPr/>
          <p:nvPr/>
        </p:nvSpPr>
        <p:spPr>
          <a:xfrm>
            <a:off x="1325880" y="1929384"/>
            <a:ext cx="7315200" cy="274320"/>
          </a:xfrm>
          <a:prstGeom prst="rect">
            <a:avLst/>
          </a:prstGeom>
          <a:noFill/>
          <a:ln/>
        </p:spPr>
        <p:txBody>
          <a:bodyPr wrap="square" lIns="0" tIns="0" rIns="0" bIns="0" rtlCol="0" anchor="ctr"/>
          <a:lstStyle/>
          <a:p>
            <a:pPr indent="0" marL="0">
              <a:buNone/>
            </a:pPr>
            <a:r>
              <a:rPr lang="en-US" sz="1200" b="1" dirty="0">
                <a:solidFill>
                  <a:srgbClr val="1E293B"/>
                </a:solidFill>
              </a:rPr>
              <a:t>Accounting control &amp; asset separation</a:t>
            </a:r>
            <a:endParaRPr lang="en-US" sz="1200" dirty="0"/>
          </a:p>
        </p:txBody>
      </p:sp>
      <p:sp>
        <p:nvSpPr>
          <p:cNvPr id="15" name="Text 13"/>
          <p:cNvSpPr/>
          <p:nvPr/>
        </p:nvSpPr>
        <p:spPr>
          <a:xfrm>
            <a:off x="1325880" y="2240280"/>
            <a:ext cx="7315200" cy="256032"/>
          </a:xfrm>
          <a:prstGeom prst="rect">
            <a:avLst/>
          </a:prstGeom>
          <a:noFill/>
          <a:ln/>
        </p:spPr>
        <p:txBody>
          <a:bodyPr wrap="square" lIns="0" tIns="0" rIns="0" bIns="0" rtlCol="0" anchor="ctr"/>
          <a:lstStyle/>
          <a:p>
            <a:pPr indent="0" marL="0">
              <a:buNone/>
            </a:pPr>
            <a:r>
              <a:rPr lang="en-US" sz="1000" i="1" dirty="0">
                <a:solidFill>
                  <a:srgbClr val="64748B"/>
                </a:solidFill>
              </a:rPr>
              <a:t>Personal/business finances mixed — critical compliance risk.</a:t>
            </a:r>
            <a:endParaRPr lang="en-US" sz="1000" dirty="0"/>
          </a:p>
        </p:txBody>
      </p:sp>
      <p:sp>
        <p:nvSpPr>
          <p:cNvPr id="16" name="Shape 14"/>
          <p:cNvSpPr/>
          <p:nvPr/>
        </p:nvSpPr>
        <p:spPr>
          <a:xfrm>
            <a:off x="320040" y="2651760"/>
            <a:ext cx="8503920" cy="694944"/>
          </a:xfrm>
          <a:prstGeom prst="rect">
            <a:avLst/>
          </a:prstGeom>
          <a:solidFill>
            <a:srgbClr val="FFF5F5"/>
          </a:solidFill>
          <a:ln w="12700">
            <a:solidFill>
              <a:srgbClr val="FFCCCC"/>
            </a:solidFill>
            <a:prstDash val="solid"/>
          </a:ln>
        </p:spPr>
      </p:sp>
      <p:sp>
        <p:nvSpPr>
          <p:cNvPr id="17" name="Shape 15"/>
          <p:cNvSpPr/>
          <p:nvPr/>
        </p:nvSpPr>
        <p:spPr>
          <a:xfrm>
            <a:off x="320040" y="2651760"/>
            <a:ext cx="54864" cy="694944"/>
          </a:xfrm>
          <a:prstGeom prst="rect">
            <a:avLst/>
          </a:prstGeom>
          <a:solidFill>
            <a:srgbClr val="E63946"/>
          </a:solidFill>
          <a:ln w="12700">
            <a:solidFill>
              <a:srgbClr val="E63946"/>
            </a:solidFill>
            <a:prstDash val="solid"/>
          </a:ln>
        </p:spPr>
      </p:sp>
      <p:sp>
        <p:nvSpPr>
          <p:cNvPr id="18" name="Shape 16"/>
          <p:cNvSpPr/>
          <p:nvPr/>
        </p:nvSpPr>
        <p:spPr>
          <a:xfrm>
            <a:off x="457200" y="2770632"/>
            <a:ext cx="749808" cy="457200"/>
          </a:xfrm>
          <a:prstGeom prst="rect">
            <a:avLst/>
          </a:prstGeom>
          <a:solidFill>
            <a:srgbClr val="E63946"/>
          </a:solidFill>
          <a:ln w="12700">
            <a:solidFill>
              <a:srgbClr val="E63946"/>
            </a:solidFill>
            <a:prstDash val="solid"/>
          </a:ln>
        </p:spPr>
      </p:sp>
      <p:sp>
        <p:nvSpPr>
          <p:cNvPr id="19" name="Text 17"/>
          <p:cNvSpPr/>
          <p:nvPr/>
        </p:nvSpPr>
        <p:spPr>
          <a:xfrm>
            <a:off x="457200" y="2770632"/>
            <a:ext cx="749808" cy="457200"/>
          </a:xfrm>
          <a:prstGeom prst="rect">
            <a:avLst/>
          </a:prstGeom>
          <a:noFill/>
          <a:ln/>
        </p:spPr>
        <p:txBody>
          <a:bodyPr wrap="square" lIns="0" tIns="0" rIns="0" bIns="0" rtlCol="0" anchor="ctr"/>
          <a:lstStyle/>
          <a:p>
            <a:pPr algn="ctr" indent="0" marL="0">
              <a:buNone/>
            </a:pPr>
            <a:r>
              <a:rPr lang="en-US" sz="1300" b="1" dirty="0">
                <a:solidFill>
                  <a:srgbClr val="FFFFFF"/>
                </a:solidFill>
              </a:rPr>
              <a:t>25%</a:t>
            </a:r>
            <a:endParaRPr lang="en-US" sz="1300" dirty="0"/>
          </a:p>
        </p:txBody>
      </p:sp>
      <p:sp>
        <p:nvSpPr>
          <p:cNvPr id="20" name="Text 18"/>
          <p:cNvSpPr/>
          <p:nvPr/>
        </p:nvSpPr>
        <p:spPr>
          <a:xfrm>
            <a:off x="1325880" y="2715768"/>
            <a:ext cx="7315200" cy="274320"/>
          </a:xfrm>
          <a:prstGeom prst="rect">
            <a:avLst/>
          </a:prstGeom>
          <a:noFill/>
          <a:ln/>
        </p:spPr>
        <p:txBody>
          <a:bodyPr wrap="square" lIns="0" tIns="0" rIns="0" bIns="0" rtlCol="0" anchor="ctr"/>
          <a:lstStyle/>
          <a:p>
            <a:pPr indent="0" marL="0">
              <a:buNone/>
            </a:pPr>
            <a:r>
              <a:rPr lang="en-US" sz="1200" b="1" dirty="0">
                <a:solidFill>
                  <a:srgbClr val="1E293B"/>
                </a:solidFill>
              </a:rPr>
              <a:t>Financial KPIs (profitability &amp; ROI)</a:t>
            </a:r>
            <a:endParaRPr lang="en-US" sz="1200" dirty="0"/>
          </a:p>
        </p:txBody>
      </p:sp>
      <p:sp>
        <p:nvSpPr>
          <p:cNvPr id="21" name="Text 19"/>
          <p:cNvSpPr/>
          <p:nvPr/>
        </p:nvSpPr>
        <p:spPr>
          <a:xfrm>
            <a:off x="1325880" y="3026664"/>
            <a:ext cx="7315200" cy="256032"/>
          </a:xfrm>
          <a:prstGeom prst="rect">
            <a:avLst/>
          </a:prstGeom>
          <a:noFill/>
          <a:ln/>
        </p:spPr>
        <p:txBody>
          <a:bodyPr wrap="square" lIns="0" tIns="0" rIns="0" bIns="0" rtlCol="0" anchor="ctr"/>
          <a:lstStyle/>
          <a:p>
            <a:pPr indent="0" marL="0">
              <a:buNone/>
            </a:pPr>
            <a:r>
              <a:rPr lang="en-US" sz="1000" i="1" dirty="0">
                <a:solidFill>
                  <a:srgbClr val="64748B"/>
                </a:solidFill>
              </a:rPr>
              <a:t>Basic KPIs nonexistent — entry point for financial BI.</a:t>
            </a:r>
            <a:endParaRPr lang="en-US" sz="1000" dirty="0"/>
          </a:p>
        </p:txBody>
      </p:sp>
      <p:sp>
        <p:nvSpPr>
          <p:cNvPr id="22" name="Shape 20"/>
          <p:cNvSpPr/>
          <p:nvPr/>
        </p:nvSpPr>
        <p:spPr>
          <a:xfrm>
            <a:off x="320040" y="3438144"/>
            <a:ext cx="8503920" cy="694944"/>
          </a:xfrm>
          <a:prstGeom prst="rect">
            <a:avLst/>
          </a:prstGeom>
          <a:solidFill>
            <a:srgbClr val="FFFFFF"/>
          </a:solidFill>
          <a:ln w="12700">
            <a:solidFill>
              <a:srgbClr val="FFCCCC"/>
            </a:solidFill>
            <a:prstDash val="solid"/>
          </a:ln>
        </p:spPr>
      </p:sp>
      <p:sp>
        <p:nvSpPr>
          <p:cNvPr id="23" name="Shape 21"/>
          <p:cNvSpPr/>
          <p:nvPr/>
        </p:nvSpPr>
        <p:spPr>
          <a:xfrm>
            <a:off x="320040" y="3438144"/>
            <a:ext cx="54864" cy="694944"/>
          </a:xfrm>
          <a:prstGeom prst="rect">
            <a:avLst/>
          </a:prstGeom>
          <a:solidFill>
            <a:srgbClr val="E63946"/>
          </a:solidFill>
          <a:ln w="12700">
            <a:solidFill>
              <a:srgbClr val="E63946"/>
            </a:solidFill>
            <a:prstDash val="solid"/>
          </a:ln>
        </p:spPr>
      </p:sp>
      <p:sp>
        <p:nvSpPr>
          <p:cNvPr id="24" name="Shape 22"/>
          <p:cNvSpPr/>
          <p:nvPr/>
        </p:nvSpPr>
        <p:spPr>
          <a:xfrm>
            <a:off x="457200" y="3557016"/>
            <a:ext cx="749808" cy="457200"/>
          </a:xfrm>
          <a:prstGeom prst="rect">
            <a:avLst/>
          </a:prstGeom>
          <a:solidFill>
            <a:srgbClr val="E63946"/>
          </a:solidFill>
          <a:ln w="12700">
            <a:solidFill>
              <a:srgbClr val="E63946"/>
            </a:solidFill>
            <a:prstDash val="solid"/>
          </a:ln>
        </p:spPr>
      </p:sp>
      <p:sp>
        <p:nvSpPr>
          <p:cNvPr id="25" name="Text 23"/>
          <p:cNvSpPr/>
          <p:nvPr/>
        </p:nvSpPr>
        <p:spPr>
          <a:xfrm>
            <a:off x="457200" y="3557016"/>
            <a:ext cx="749808" cy="457200"/>
          </a:xfrm>
          <a:prstGeom prst="rect">
            <a:avLst/>
          </a:prstGeom>
          <a:noFill/>
          <a:ln/>
        </p:spPr>
        <p:txBody>
          <a:bodyPr wrap="square" lIns="0" tIns="0" rIns="0" bIns="0" rtlCol="0" anchor="ctr"/>
          <a:lstStyle/>
          <a:p>
            <a:pPr algn="ctr" indent="0" marL="0">
              <a:buNone/>
            </a:pPr>
            <a:r>
              <a:rPr lang="en-US" sz="1300" b="1" dirty="0">
                <a:solidFill>
                  <a:srgbClr val="FFFFFF"/>
                </a:solidFill>
              </a:rPr>
              <a:t>50%</a:t>
            </a:r>
            <a:endParaRPr lang="en-US" sz="1300" dirty="0"/>
          </a:p>
        </p:txBody>
      </p:sp>
      <p:sp>
        <p:nvSpPr>
          <p:cNvPr id="26" name="Text 24"/>
          <p:cNvSpPr/>
          <p:nvPr/>
        </p:nvSpPr>
        <p:spPr>
          <a:xfrm>
            <a:off x="1325880" y="3502152"/>
            <a:ext cx="7315200" cy="274320"/>
          </a:xfrm>
          <a:prstGeom prst="rect">
            <a:avLst/>
          </a:prstGeom>
          <a:noFill/>
          <a:ln/>
        </p:spPr>
        <p:txBody>
          <a:bodyPr wrap="square" lIns="0" tIns="0" rIns="0" bIns="0" rtlCol="0" anchor="ctr"/>
          <a:lstStyle/>
          <a:p>
            <a:pPr indent="0" marL="0">
              <a:buNone/>
            </a:pPr>
            <a:r>
              <a:rPr lang="en-US" sz="1200" b="1" dirty="0">
                <a:solidFill>
                  <a:srgbClr val="1E293B"/>
                </a:solidFill>
              </a:rPr>
              <a:t>Working capital management</a:t>
            </a:r>
            <a:endParaRPr lang="en-US" sz="1200" dirty="0"/>
          </a:p>
        </p:txBody>
      </p:sp>
      <p:sp>
        <p:nvSpPr>
          <p:cNvPr id="27" name="Text 25"/>
          <p:cNvSpPr/>
          <p:nvPr/>
        </p:nvSpPr>
        <p:spPr>
          <a:xfrm>
            <a:off x="1325880" y="3813048"/>
            <a:ext cx="7315200" cy="256032"/>
          </a:xfrm>
          <a:prstGeom prst="rect">
            <a:avLst/>
          </a:prstGeom>
          <a:noFill/>
          <a:ln/>
        </p:spPr>
        <p:txBody>
          <a:bodyPr wrap="square" lIns="0" tIns="0" rIns="0" bIns="0" rtlCol="0" anchor="ctr"/>
          <a:lstStyle/>
          <a:p>
            <a:pPr indent="0" marL="0">
              <a:buNone/>
            </a:pPr>
            <a:r>
              <a:rPr lang="en-US" sz="1000" i="1" dirty="0">
                <a:solidFill>
                  <a:srgbClr val="64748B"/>
                </a:solidFill>
              </a:rPr>
              <a:t>No cash flow projection — liquidity risk exposure.</a:t>
            </a:r>
            <a:endParaRPr lang="en-US" sz="1000" dirty="0"/>
          </a:p>
        </p:txBody>
      </p:sp>
      <p:sp>
        <p:nvSpPr>
          <p:cNvPr id="28" name="Shape 26"/>
          <p:cNvSpPr/>
          <p:nvPr/>
        </p:nvSpPr>
        <p:spPr>
          <a:xfrm>
            <a:off x="320040" y="4224528"/>
            <a:ext cx="8503920" cy="694944"/>
          </a:xfrm>
          <a:prstGeom prst="rect">
            <a:avLst/>
          </a:prstGeom>
          <a:solidFill>
            <a:srgbClr val="FFF5F5"/>
          </a:solidFill>
          <a:ln w="12700">
            <a:solidFill>
              <a:srgbClr val="FFCCCC"/>
            </a:solidFill>
            <a:prstDash val="solid"/>
          </a:ln>
        </p:spPr>
      </p:sp>
      <p:sp>
        <p:nvSpPr>
          <p:cNvPr id="29" name="Shape 27"/>
          <p:cNvSpPr/>
          <p:nvPr/>
        </p:nvSpPr>
        <p:spPr>
          <a:xfrm>
            <a:off x="320040" y="4224528"/>
            <a:ext cx="54864" cy="694944"/>
          </a:xfrm>
          <a:prstGeom prst="rect">
            <a:avLst/>
          </a:prstGeom>
          <a:solidFill>
            <a:srgbClr val="E63946"/>
          </a:solidFill>
          <a:ln w="12700">
            <a:solidFill>
              <a:srgbClr val="E63946"/>
            </a:solidFill>
            <a:prstDash val="solid"/>
          </a:ln>
        </p:spPr>
      </p:sp>
      <p:sp>
        <p:nvSpPr>
          <p:cNvPr id="30" name="Shape 28"/>
          <p:cNvSpPr/>
          <p:nvPr/>
        </p:nvSpPr>
        <p:spPr>
          <a:xfrm>
            <a:off x="457200" y="4343400"/>
            <a:ext cx="749808" cy="457200"/>
          </a:xfrm>
          <a:prstGeom prst="rect">
            <a:avLst/>
          </a:prstGeom>
          <a:solidFill>
            <a:srgbClr val="E63946"/>
          </a:solidFill>
          <a:ln w="12700">
            <a:solidFill>
              <a:srgbClr val="E63946"/>
            </a:solidFill>
            <a:prstDash val="solid"/>
          </a:ln>
        </p:spPr>
      </p:sp>
      <p:sp>
        <p:nvSpPr>
          <p:cNvPr id="31" name="Text 29"/>
          <p:cNvSpPr/>
          <p:nvPr/>
        </p:nvSpPr>
        <p:spPr>
          <a:xfrm>
            <a:off x="457200" y="4343400"/>
            <a:ext cx="749808" cy="457200"/>
          </a:xfrm>
          <a:prstGeom prst="rect">
            <a:avLst/>
          </a:prstGeom>
          <a:noFill/>
          <a:ln/>
        </p:spPr>
        <p:txBody>
          <a:bodyPr wrap="square" lIns="0" tIns="0" rIns="0" bIns="0" rtlCol="0" anchor="ctr"/>
          <a:lstStyle/>
          <a:p>
            <a:pPr algn="ctr" indent="0" marL="0">
              <a:buNone/>
            </a:pPr>
            <a:r>
              <a:rPr lang="en-US" sz="1300" b="1" dirty="0">
                <a:solidFill>
                  <a:srgbClr val="FFFFFF"/>
                </a:solidFill>
              </a:rPr>
              <a:t>~30%</a:t>
            </a:r>
            <a:endParaRPr lang="en-US" sz="1300" dirty="0"/>
          </a:p>
        </p:txBody>
      </p:sp>
      <p:sp>
        <p:nvSpPr>
          <p:cNvPr id="32" name="Text 30"/>
          <p:cNvSpPr/>
          <p:nvPr/>
        </p:nvSpPr>
        <p:spPr>
          <a:xfrm>
            <a:off x="1325880" y="4288536"/>
            <a:ext cx="7315200" cy="274320"/>
          </a:xfrm>
          <a:prstGeom prst="rect">
            <a:avLst/>
          </a:prstGeom>
          <a:noFill/>
          <a:ln/>
        </p:spPr>
        <p:txBody>
          <a:bodyPr wrap="square" lIns="0" tIns="0" rIns="0" bIns="0" rtlCol="0" anchor="ctr"/>
          <a:lstStyle/>
          <a:p>
            <a:pPr indent="0" marL="0">
              <a:buNone/>
            </a:pPr>
            <a:r>
              <a:rPr lang="en-US" sz="1200" b="1" dirty="0">
                <a:solidFill>
                  <a:srgbClr val="1E293B"/>
                </a:solidFill>
              </a:rPr>
              <a:t>Segment-focused marketing planning</a:t>
            </a:r>
            <a:endParaRPr lang="en-US" sz="1200" dirty="0"/>
          </a:p>
        </p:txBody>
      </p:sp>
      <p:sp>
        <p:nvSpPr>
          <p:cNvPr id="33" name="Text 31"/>
          <p:cNvSpPr/>
          <p:nvPr/>
        </p:nvSpPr>
        <p:spPr>
          <a:xfrm>
            <a:off x="1325880" y="4599432"/>
            <a:ext cx="7315200" cy="256032"/>
          </a:xfrm>
          <a:prstGeom prst="rect">
            <a:avLst/>
          </a:prstGeom>
          <a:noFill/>
          <a:ln/>
        </p:spPr>
        <p:txBody>
          <a:bodyPr wrap="square" lIns="0" tIns="0" rIns="0" bIns="0" rtlCol="0" anchor="ctr"/>
          <a:lstStyle/>
          <a:p>
            <a:pPr indent="0" marL="0">
              <a:buNone/>
            </a:pPr>
            <a:r>
              <a:rPr lang="en-US" sz="1000" i="1" dirty="0">
                <a:solidFill>
                  <a:srgbClr val="64748B"/>
                </a:solidFill>
              </a:rPr>
              <a:t>Undifferentiated communication — ML clustering opportunity.</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2C39A"/>
          </a:solidFill>
          <a:ln w="12700">
            <a:solidFill>
              <a:srgbClr val="02C39A"/>
            </a:solidFill>
            <a:prstDash val="solid"/>
          </a:ln>
        </p:spPr>
      </p:sp>
      <p:sp>
        <p:nvSpPr>
          <p:cNvPr id="3" name="Text 1"/>
          <p:cNvSpPr/>
          <p:nvPr/>
        </p:nvSpPr>
        <p:spPr>
          <a:xfrm>
            <a:off x="365760" y="0"/>
            <a:ext cx="8229600" cy="960120"/>
          </a:xfrm>
          <a:prstGeom prst="rect">
            <a:avLst/>
          </a:prstGeom>
          <a:noFill/>
          <a:ln/>
        </p:spPr>
        <p:txBody>
          <a:bodyPr wrap="square" lIns="0" tIns="0" rIns="0" bIns="0" rtlCol="0" anchor="ctr"/>
          <a:lstStyle/>
          <a:p>
            <a:pPr indent="0" marL="0">
              <a:buNone/>
            </a:pPr>
            <a:r>
              <a:rPr lang="en-US" sz="2100" b="1" dirty="0">
                <a:solidFill>
                  <a:srgbClr val="0D1B3E"/>
                </a:solidFill>
              </a:rPr>
              <a:t>HIGHLIGHTS — THE 5 BEST INDICATORS</a:t>
            </a:r>
            <a:endParaRPr lang="en-US" sz="2100" dirty="0"/>
          </a:p>
        </p:txBody>
      </p:sp>
      <p:sp>
        <p:nvSpPr>
          <p:cNvPr id="4" name="Shape 2"/>
          <p:cNvSpPr/>
          <p:nvPr/>
        </p:nvSpPr>
        <p:spPr>
          <a:xfrm>
            <a:off x="320040" y="1078992"/>
            <a:ext cx="8503920" cy="694944"/>
          </a:xfrm>
          <a:prstGeom prst="rect">
            <a:avLst/>
          </a:prstGeom>
          <a:solidFill>
            <a:srgbClr val="F0FDF9"/>
          </a:solidFill>
          <a:ln w="12700">
            <a:solidFill>
              <a:srgbClr val="B2F0E0"/>
            </a:solidFill>
            <a:prstDash val="solid"/>
          </a:ln>
        </p:spPr>
      </p:sp>
      <p:sp>
        <p:nvSpPr>
          <p:cNvPr id="5" name="Shape 3"/>
          <p:cNvSpPr/>
          <p:nvPr/>
        </p:nvSpPr>
        <p:spPr>
          <a:xfrm>
            <a:off x="320040" y="1078992"/>
            <a:ext cx="54864" cy="694944"/>
          </a:xfrm>
          <a:prstGeom prst="rect">
            <a:avLst/>
          </a:prstGeom>
          <a:solidFill>
            <a:srgbClr val="02C39A"/>
          </a:solidFill>
          <a:ln w="12700">
            <a:solidFill>
              <a:srgbClr val="02C39A"/>
            </a:solidFill>
            <a:prstDash val="solid"/>
          </a:ln>
        </p:spPr>
      </p:sp>
      <p:sp>
        <p:nvSpPr>
          <p:cNvPr id="6" name="Shape 4"/>
          <p:cNvSpPr/>
          <p:nvPr/>
        </p:nvSpPr>
        <p:spPr>
          <a:xfrm>
            <a:off x="457200" y="1197864"/>
            <a:ext cx="749808" cy="457200"/>
          </a:xfrm>
          <a:prstGeom prst="rect">
            <a:avLst/>
          </a:prstGeom>
          <a:solidFill>
            <a:srgbClr val="02C39A"/>
          </a:solidFill>
          <a:ln w="12700">
            <a:solidFill>
              <a:srgbClr val="02C39A"/>
            </a:solidFill>
            <a:prstDash val="solid"/>
          </a:ln>
        </p:spPr>
      </p:sp>
      <p:sp>
        <p:nvSpPr>
          <p:cNvPr id="7" name="Text 5"/>
          <p:cNvSpPr/>
          <p:nvPr/>
        </p:nvSpPr>
        <p:spPr>
          <a:xfrm>
            <a:off x="457200" y="1197864"/>
            <a:ext cx="749808" cy="457200"/>
          </a:xfrm>
          <a:prstGeom prst="rect">
            <a:avLst/>
          </a:prstGeom>
          <a:noFill/>
          <a:ln/>
        </p:spPr>
        <p:txBody>
          <a:bodyPr wrap="square" lIns="0" tIns="0" rIns="0" bIns="0" rtlCol="0" anchor="ctr"/>
          <a:lstStyle/>
          <a:p>
            <a:pPr algn="ctr" indent="0" marL="0">
              <a:buNone/>
            </a:pPr>
            <a:r>
              <a:rPr lang="en-US" sz="1200" b="1" dirty="0">
                <a:solidFill>
                  <a:srgbClr val="0D1B3E"/>
                </a:solidFill>
              </a:rPr>
              <a:t>100%</a:t>
            </a:r>
            <a:endParaRPr lang="en-US" sz="1200" dirty="0"/>
          </a:p>
        </p:txBody>
      </p:sp>
      <p:sp>
        <p:nvSpPr>
          <p:cNvPr id="8" name="Text 6"/>
          <p:cNvSpPr/>
          <p:nvPr/>
        </p:nvSpPr>
        <p:spPr>
          <a:xfrm>
            <a:off x="1325880" y="1143000"/>
            <a:ext cx="7315200" cy="274320"/>
          </a:xfrm>
          <a:prstGeom prst="rect">
            <a:avLst/>
          </a:prstGeom>
          <a:noFill/>
          <a:ln/>
        </p:spPr>
        <p:txBody>
          <a:bodyPr wrap="square" lIns="0" tIns="0" rIns="0" bIns="0" rtlCol="0" anchor="ctr"/>
          <a:lstStyle/>
          <a:p>
            <a:pPr indent="0" marL="0">
              <a:buNone/>
            </a:pPr>
            <a:r>
              <a:rPr lang="en-US" sz="1200" b="1" dirty="0">
                <a:solidFill>
                  <a:srgbClr val="1E293B"/>
                </a:solidFill>
              </a:rPr>
              <a:t>Customer satisfaction &amp; loyalty</a:t>
            </a:r>
            <a:endParaRPr lang="en-US" sz="1200" dirty="0"/>
          </a:p>
        </p:txBody>
      </p:sp>
      <p:sp>
        <p:nvSpPr>
          <p:cNvPr id="9" name="Text 7"/>
          <p:cNvSpPr/>
          <p:nvPr/>
        </p:nvSpPr>
        <p:spPr>
          <a:xfrm>
            <a:off x="1325880" y="1453896"/>
            <a:ext cx="7315200" cy="256032"/>
          </a:xfrm>
          <a:prstGeom prst="rect">
            <a:avLst/>
          </a:prstGeom>
          <a:noFill/>
          <a:ln/>
        </p:spPr>
        <p:txBody>
          <a:bodyPr wrap="square" lIns="0" tIns="0" rIns="0" bIns="0" rtlCol="0" anchor="ctr"/>
          <a:lstStyle/>
          <a:p>
            <a:pPr indent="0" marL="0">
              <a:buNone/>
            </a:pPr>
            <a:r>
              <a:rPr lang="en-US" sz="1000" i="1" dirty="0">
                <a:solidFill>
                  <a:srgbClr val="64748B"/>
                </a:solidFill>
              </a:rPr>
              <a:t>Foundation for NPS tracking and churn analysis.</a:t>
            </a:r>
            <a:endParaRPr lang="en-US" sz="1000" dirty="0"/>
          </a:p>
        </p:txBody>
      </p:sp>
      <p:sp>
        <p:nvSpPr>
          <p:cNvPr id="10" name="Shape 8"/>
          <p:cNvSpPr/>
          <p:nvPr/>
        </p:nvSpPr>
        <p:spPr>
          <a:xfrm>
            <a:off x="320040" y="1865376"/>
            <a:ext cx="8503920" cy="694944"/>
          </a:xfrm>
          <a:prstGeom prst="rect">
            <a:avLst/>
          </a:prstGeom>
          <a:solidFill>
            <a:srgbClr val="FFFFFF"/>
          </a:solidFill>
          <a:ln w="12700">
            <a:solidFill>
              <a:srgbClr val="B2F0E0"/>
            </a:solidFill>
            <a:prstDash val="solid"/>
          </a:ln>
        </p:spPr>
      </p:sp>
      <p:sp>
        <p:nvSpPr>
          <p:cNvPr id="11" name="Shape 9"/>
          <p:cNvSpPr/>
          <p:nvPr/>
        </p:nvSpPr>
        <p:spPr>
          <a:xfrm>
            <a:off x="320040" y="1865376"/>
            <a:ext cx="54864" cy="694944"/>
          </a:xfrm>
          <a:prstGeom prst="rect">
            <a:avLst/>
          </a:prstGeom>
          <a:solidFill>
            <a:srgbClr val="02C39A"/>
          </a:solidFill>
          <a:ln w="12700">
            <a:solidFill>
              <a:srgbClr val="02C39A"/>
            </a:solidFill>
            <a:prstDash val="solid"/>
          </a:ln>
        </p:spPr>
      </p:sp>
      <p:sp>
        <p:nvSpPr>
          <p:cNvPr id="12" name="Shape 10"/>
          <p:cNvSpPr/>
          <p:nvPr/>
        </p:nvSpPr>
        <p:spPr>
          <a:xfrm>
            <a:off x="457200" y="1984248"/>
            <a:ext cx="749808" cy="457200"/>
          </a:xfrm>
          <a:prstGeom prst="rect">
            <a:avLst/>
          </a:prstGeom>
          <a:solidFill>
            <a:srgbClr val="02C39A"/>
          </a:solidFill>
          <a:ln w="12700">
            <a:solidFill>
              <a:srgbClr val="02C39A"/>
            </a:solidFill>
            <a:prstDash val="solid"/>
          </a:ln>
        </p:spPr>
      </p:sp>
      <p:sp>
        <p:nvSpPr>
          <p:cNvPr id="13" name="Text 11"/>
          <p:cNvSpPr/>
          <p:nvPr/>
        </p:nvSpPr>
        <p:spPr>
          <a:xfrm>
            <a:off x="457200" y="1984248"/>
            <a:ext cx="749808" cy="457200"/>
          </a:xfrm>
          <a:prstGeom prst="rect">
            <a:avLst/>
          </a:prstGeom>
          <a:noFill/>
          <a:ln/>
        </p:spPr>
        <p:txBody>
          <a:bodyPr wrap="square" lIns="0" tIns="0" rIns="0" bIns="0" rtlCol="0" anchor="ctr"/>
          <a:lstStyle/>
          <a:p>
            <a:pPr algn="ctr" indent="0" marL="0">
              <a:buNone/>
            </a:pPr>
            <a:r>
              <a:rPr lang="en-US" sz="1200" b="1" dirty="0">
                <a:solidFill>
                  <a:srgbClr val="0D1B3E"/>
                </a:solidFill>
              </a:rPr>
              <a:t>100%</a:t>
            </a:r>
            <a:endParaRPr lang="en-US" sz="1200" dirty="0"/>
          </a:p>
        </p:txBody>
      </p:sp>
      <p:sp>
        <p:nvSpPr>
          <p:cNvPr id="14" name="Text 12"/>
          <p:cNvSpPr/>
          <p:nvPr/>
        </p:nvSpPr>
        <p:spPr>
          <a:xfrm>
            <a:off x="1325880" y="1929384"/>
            <a:ext cx="7315200" cy="274320"/>
          </a:xfrm>
          <a:prstGeom prst="rect">
            <a:avLst/>
          </a:prstGeom>
          <a:noFill/>
          <a:ln/>
        </p:spPr>
        <p:txBody>
          <a:bodyPr wrap="square" lIns="0" tIns="0" rIns="0" bIns="0" rtlCol="0" anchor="ctr"/>
          <a:lstStyle/>
          <a:p>
            <a:pPr indent="0" marL="0">
              <a:buNone/>
            </a:pPr>
            <a:r>
              <a:rPr lang="en-US" sz="1200" b="1" dirty="0">
                <a:solidFill>
                  <a:srgbClr val="1E293B"/>
                </a:solidFill>
              </a:rPr>
              <a:t>Real alignment with customer needs</a:t>
            </a:r>
            <a:endParaRPr lang="en-US" sz="1200" dirty="0"/>
          </a:p>
        </p:txBody>
      </p:sp>
      <p:sp>
        <p:nvSpPr>
          <p:cNvPr id="15" name="Text 13"/>
          <p:cNvSpPr/>
          <p:nvPr/>
        </p:nvSpPr>
        <p:spPr>
          <a:xfrm>
            <a:off x="1325880" y="2240280"/>
            <a:ext cx="7315200" cy="256032"/>
          </a:xfrm>
          <a:prstGeom prst="rect">
            <a:avLst/>
          </a:prstGeom>
          <a:noFill/>
          <a:ln/>
        </p:spPr>
        <p:txBody>
          <a:bodyPr wrap="square" lIns="0" tIns="0" rIns="0" bIns="0" rtlCol="0" anchor="ctr"/>
          <a:lstStyle/>
          <a:p>
            <a:pPr indent="0" marL="0">
              <a:buNone/>
            </a:pPr>
            <a:r>
              <a:rPr lang="en-US" sz="1000" i="1" dirty="0">
                <a:solidFill>
                  <a:srgbClr val="64748B"/>
                </a:solidFill>
              </a:rPr>
              <a:t>Product-market fit confirmed — scalable with demand forecasting.</a:t>
            </a:r>
            <a:endParaRPr lang="en-US" sz="1000" dirty="0"/>
          </a:p>
        </p:txBody>
      </p:sp>
      <p:sp>
        <p:nvSpPr>
          <p:cNvPr id="16" name="Shape 14"/>
          <p:cNvSpPr/>
          <p:nvPr/>
        </p:nvSpPr>
        <p:spPr>
          <a:xfrm>
            <a:off x="320040" y="2651760"/>
            <a:ext cx="8503920" cy="694944"/>
          </a:xfrm>
          <a:prstGeom prst="rect">
            <a:avLst/>
          </a:prstGeom>
          <a:solidFill>
            <a:srgbClr val="F0FDF9"/>
          </a:solidFill>
          <a:ln w="12700">
            <a:solidFill>
              <a:srgbClr val="B2F0E0"/>
            </a:solidFill>
            <a:prstDash val="solid"/>
          </a:ln>
        </p:spPr>
      </p:sp>
      <p:sp>
        <p:nvSpPr>
          <p:cNvPr id="17" name="Shape 15"/>
          <p:cNvSpPr/>
          <p:nvPr/>
        </p:nvSpPr>
        <p:spPr>
          <a:xfrm>
            <a:off x="320040" y="2651760"/>
            <a:ext cx="54864" cy="694944"/>
          </a:xfrm>
          <a:prstGeom prst="rect">
            <a:avLst/>
          </a:prstGeom>
          <a:solidFill>
            <a:srgbClr val="02C39A"/>
          </a:solidFill>
          <a:ln w="12700">
            <a:solidFill>
              <a:srgbClr val="02C39A"/>
            </a:solidFill>
            <a:prstDash val="solid"/>
          </a:ln>
        </p:spPr>
      </p:sp>
      <p:sp>
        <p:nvSpPr>
          <p:cNvPr id="18" name="Shape 16"/>
          <p:cNvSpPr/>
          <p:nvPr/>
        </p:nvSpPr>
        <p:spPr>
          <a:xfrm>
            <a:off x="457200" y="2770632"/>
            <a:ext cx="749808" cy="457200"/>
          </a:xfrm>
          <a:prstGeom prst="rect">
            <a:avLst/>
          </a:prstGeom>
          <a:solidFill>
            <a:srgbClr val="02C39A"/>
          </a:solidFill>
          <a:ln w="12700">
            <a:solidFill>
              <a:srgbClr val="02C39A"/>
            </a:solidFill>
            <a:prstDash val="solid"/>
          </a:ln>
        </p:spPr>
      </p:sp>
      <p:sp>
        <p:nvSpPr>
          <p:cNvPr id="19" name="Text 17"/>
          <p:cNvSpPr/>
          <p:nvPr/>
        </p:nvSpPr>
        <p:spPr>
          <a:xfrm>
            <a:off x="457200" y="2770632"/>
            <a:ext cx="749808" cy="457200"/>
          </a:xfrm>
          <a:prstGeom prst="rect">
            <a:avLst/>
          </a:prstGeom>
          <a:noFill/>
          <a:ln/>
        </p:spPr>
        <p:txBody>
          <a:bodyPr wrap="square" lIns="0" tIns="0" rIns="0" bIns="0" rtlCol="0" anchor="ctr"/>
          <a:lstStyle/>
          <a:p>
            <a:pPr algn="ctr" indent="0" marL="0">
              <a:buNone/>
            </a:pPr>
            <a:r>
              <a:rPr lang="en-US" sz="1200" b="1" dirty="0">
                <a:solidFill>
                  <a:srgbClr val="0D1B3E"/>
                </a:solidFill>
              </a:rPr>
              <a:t>100%</a:t>
            </a:r>
            <a:endParaRPr lang="en-US" sz="1200" dirty="0"/>
          </a:p>
        </p:txBody>
      </p:sp>
      <p:sp>
        <p:nvSpPr>
          <p:cNvPr id="20" name="Text 18"/>
          <p:cNvSpPr/>
          <p:nvPr/>
        </p:nvSpPr>
        <p:spPr>
          <a:xfrm>
            <a:off x="1325880" y="2715768"/>
            <a:ext cx="7315200" cy="274320"/>
          </a:xfrm>
          <a:prstGeom prst="rect">
            <a:avLst/>
          </a:prstGeom>
          <a:noFill/>
          <a:ln/>
        </p:spPr>
        <p:txBody>
          <a:bodyPr wrap="square" lIns="0" tIns="0" rIns="0" bIns="0" rtlCol="0" anchor="ctr"/>
          <a:lstStyle/>
          <a:p>
            <a:pPr indent="0" marL="0">
              <a:buNone/>
            </a:pPr>
            <a:r>
              <a:rPr lang="en-US" sz="1200" b="1" dirty="0">
                <a:solidFill>
                  <a:srgbClr val="1E293B"/>
                </a:solidFill>
              </a:rPr>
              <a:t>Operational loss control (logistics)</a:t>
            </a:r>
            <a:endParaRPr lang="en-US" sz="1200" dirty="0"/>
          </a:p>
        </p:txBody>
      </p:sp>
      <p:sp>
        <p:nvSpPr>
          <p:cNvPr id="21" name="Text 19"/>
          <p:cNvSpPr/>
          <p:nvPr/>
        </p:nvSpPr>
        <p:spPr>
          <a:xfrm>
            <a:off x="1325880" y="3026664"/>
            <a:ext cx="7315200" cy="256032"/>
          </a:xfrm>
          <a:prstGeom prst="rect">
            <a:avLst/>
          </a:prstGeom>
          <a:noFill/>
          <a:ln/>
        </p:spPr>
        <p:txBody>
          <a:bodyPr wrap="square" lIns="0" tIns="0" rIns="0" bIns="0" rtlCol="0" anchor="ctr"/>
          <a:lstStyle/>
          <a:p>
            <a:pPr indent="0" marL="0">
              <a:buNone/>
            </a:pPr>
            <a:r>
              <a:rPr lang="en-US" sz="1000" i="1" dirty="0">
                <a:solidFill>
                  <a:srgbClr val="64748B"/>
                </a:solidFill>
              </a:rPr>
              <a:t>Excellent efficiency — ready for real-time dashboard monitoring.</a:t>
            </a:r>
            <a:endParaRPr lang="en-US" sz="1000" dirty="0"/>
          </a:p>
        </p:txBody>
      </p:sp>
      <p:sp>
        <p:nvSpPr>
          <p:cNvPr id="22" name="Shape 20"/>
          <p:cNvSpPr/>
          <p:nvPr/>
        </p:nvSpPr>
        <p:spPr>
          <a:xfrm>
            <a:off x="320040" y="3438144"/>
            <a:ext cx="8503920" cy="694944"/>
          </a:xfrm>
          <a:prstGeom prst="rect">
            <a:avLst/>
          </a:prstGeom>
          <a:solidFill>
            <a:srgbClr val="FFFFFF"/>
          </a:solidFill>
          <a:ln w="12700">
            <a:solidFill>
              <a:srgbClr val="B2F0E0"/>
            </a:solidFill>
            <a:prstDash val="solid"/>
          </a:ln>
        </p:spPr>
      </p:sp>
      <p:sp>
        <p:nvSpPr>
          <p:cNvPr id="23" name="Shape 21"/>
          <p:cNvSpPr/>
          <p:nvPr/>
        </p:nvSpPr>
        <p:spPr>
          <a:xfrm>
            <a:off x="320040" y="3438144"/>
            <a:ext cx="54864" cy="694944"/>
          </a:xfrm>
          <a:prstGeom prst="rect">
            <a:avLst/>
          </a:prstGeom>
          <a:solidFill>
            <a:srgbClr val="02C39A"/>
          </a:solidFill>
          <a:ln w="12700">
            <a:solidFill>
              <a:srgbClr val="02C39A"/>
            </a:solidFill>
            <a:prstDash val="solid"/>
          </a:ln>
        </p:spPr>
      </p:sp>
      <p:sp>
        <p:nvSpPr>
          <p:cNvPr id="24" name="Shape 22"/>
          <p:cNvSpPr/>
          <p:nvPr/>
        </p:nvSpPr>
        <p:spPr>
          <a:xfrm>
            <a:off x="457200" y="3557016"/>
            <a:ext cx="749808" cy="457200"/>
          </a:xfrm>
          <a:prstGeom prst="rect">
            <a:avLst/>
          </a:prstGeom>
          <a:solidFill>
            <a:srgbClr val="02C39A"/>
          </a:solidFill>
          <a:ln w="12700">
            <a:solidFill>
              <a:srgbClr val="02C39A"/>
            </a:solidFill>
            <a:prstDash val="solid"/>
          </a:ln>
        </p:spPr>
      </p:sp>
      <p:sp>
        <p:nvSpPr>
          <p:cNvPr id="25" name="Text 23"/>
          <p:cNvSpPr/>
          <p:nvPr/>
        </p:nvSpPr>
        <p:spPr>
          <a:xfrm>
            <a:off x="457200" y="3557016"/>
            <a:ext cx="749808" cy="457200"/>
          </a:xfrm>
          <a:prstGeom prst="rect">
            <a:avLst/>
          </a:prstGeom>
          <a:noFill/>
          <a:ln/>
        </p:spPr>
        <p:txBody>
          <a:bodyPr wrap="square" lIns="0" tIns="0" rIns="0" bIns="0" rtlCol="0" anchor="ctr"/>
          <a:lstStyle/>
          <a:p>
            <a:pPr algn="ctr" indent="0" marL="0">
              <a:buNone/>
            </a:pPr>
            <a:r>
              <a:rPr lang="en-US" sz="1200" b="1" dirty="0">
                <a:solidFill>
                  <a:srgbClr val="0D1B3E"/>
                </a:solidFill>
              </a:rPr>
              <a:t>100%</a:t>
            </a:r>
            <a:endParaRPr lang="en-US" sz="1200" dirty="0"/>
          </a:p>
        </p:txBody>
      </p:sp>
      <p:sp>
        <p:nvSpPr>
          <p:cNvPr id="26" name="Text 24"/>
          <p:cNvSpPr/>
          <p:nvPr/>
        </p:nvSpPr>
        <p:spPr>
          <a:xfrm>
            <a:off x="1325880" y="3502152"/>
            <a:ext cx="7315200" cy="274320"/>
          </a:xfrm>
          <a:prstGeom prst="rect">
            <a:avLst/>
          </a:prstGeom>
          <a:noFill/>
          <a:ln/>
        </p:spPr>
        <p:txBody>
          <a:bodyPr wrap="square" lIns="0" tIns="0" rIns="0" bIns="0" rtlCol="0" anchor="ctr"/>
          <a:lstStyle/>
          <a:p>
            <a:pPr indent="0" marL="0">
              <a:buNone/>
            </a:pPr>
            <a:r>
              <a:rPr lang="en-US" sz="1200" b="1" dirty="0">
                <a:solidFill>
                  <a:srgbClr val="1E293B"/>
                </a:solidFill>
              </a:rPr>
              <a:t>Innovation &amp; product update culture</a:t>
            </a:r>
            <a:endParaRPr lang="en-US" sz="1200" dirty="0"/>
          </a:p>
        </p:txBody>
      </p:sp>
      <p:sp>
        <p:nvSpPr>
          <p:cNvPr id="27" name="Text 25"/>
          <p:cNvSpPr/>
          <p:nvPr/>
        </p:nvSpPr>
        <p:spPr>
          <a:xfrm>
            <a:off x="1325880" y="3813048"/>
            <a:ext cx="7315200" cy="256032"/>
          </a:xfrm>
          <a:prstGeom prst="rect">
            <a:avLst/>
          </a:prstGeom>
          <a:noFill/>
          <a:ln/>
        </p:spPr>
        <p:txBody>
          <a:bodyPr wrap="square" lIns="0" tIns="0" rIns="0" bIns="0" rtlCol="0" anchor="ctr"/>
          <a:lstStyle/>
          <a:p>
            <a:pPr indent="0" marL="0">
              <a:buNone/>
            </a:pPr>
            <a:r>
              <a:rPr lang="en-US" sz="1000" i="1" dirty="0">
                <a:solidFill>
                  <a:srgbClr val="64748B"/>
                </a:solidFill>
              </a:rPr>
              <a:t>Agile mindset present — compatible with continuous improvement.</a:t>
            </a:r>
            <a:endParaRPr lang="en-US" sz="1000" dirty="0"/>
          </a:p>
        </p:txBody>
      </p:sp>
      <p:sp>
        <p:nvSpPr>
          <p:cNvPr id="28" name="Shape 26"/>
          <p:cNvSpPr/>
          <p:nvPr/>
        </p:nvSpPr>
        <p:spPr>
          <a:xfrm>
            <a:off x="320040" y="4224528"/>
            <a:ext cx="8503920" cy="694944"/>
          </a:xfrm>
          <a:prstGeom prst="rect">
            <a:avLst/>
          </a:prstGeom>
          <a:solidFill>
            <a:srgbClr val="F0FDF9"/>
          </a:solidFill>
          <a:ln w="12700">
            <a:solidFill>
              <a:srgbClr val="B2F0E0"/>
            </a:solidFill>
            <a:prstDash val="solid"/>
          </a:ln>
        </p:spPr>
      </p:sp>
      <p:sp>
        <p:nvSpPr>
          <p:cNvPr id="29" name="Shape 27"/>
          <p:cNvSpPr/>
          <p:nvPr/>
        </p:nvSpPr>
        <p:spPr>
          <a:xfrm>
            <a:off x="320040" y="4224528"/>
            <a:ext cx="54864" cy="694944"/>
          </a:xfrm>
          <a:prstGeom prst="rect">
            <a:avLst/>
          </a:prstGeom>
          <a:solidFill>
            <a:srgbClr val="02C39A"/>
          </a:solidFill>
          <a:ln w="12700">
            <a:solidFill>
              <a:srgbClr val="02C39A"/>
            </a:solidFill>
            <a:prstDash val="solid"/>
          </a:ln>
        </p:spPr>
      </p:sp>
      <p:sp>
        <p:nvSpPr>
          <p:cNvPr id="30" name="Shape 28"/>
          <p:cNvSpPr/>
          <p:nvPr/>
        </p:nvSpPr>
        <p:spPr>
          <a:xfrm>
            <a:off x="457200" y="4343400"/>
            <a:ext cx="749808" cy="457200"/>
          </a:xfrm>
          <a:prstGeom prst="rect">
            <a:avLst/>
          </a:prstGeom>
          <a:solidFill>
            <a:srgbClr val="02C39A"/>
          </a:solidFill>
          <a:ln w="12700">
            <a:solidFill>
              <a:srgbClr val="02C39A"/>
            </a:solidFill>
            <a:prstDash val="solid"/>
          </a:ln>
        </p:spPr>
      </p:sp>
      <p:sp>
        <p:nvSpPr>
          <p:cNvPr id="31" name="Text 29"/>
          <p:cNvSpPr/>
          <p:nvPr/>
        </p:nvSpPr>
        <p:spPr>
          <a:xfrm>
            <a:off x="457200" y="4343400"/>
            <a:ext cx="749808" cy="457200"/>
          </a:xfrm>
          <a:prstGeom prst="rect">
            <a:avLst/>
          </a:prstGeom>
          <a:noFill/>
          <a:ln/>
        </p:spPr>
        <p:txBody>
          <a:bodyPr wrap="square" lIns="0" tIns="0" rIns="0" bIns="0" rtlCol="0" anchor="ctr"/>
          <a:lstStyle/>
          <a:p>
            <a:pPr algn="ctr" indent="0" marL="0">
              <a:buNone/>
            </a:pPr>
            <a:r>
              <a:rPr lang="en-US" sz="1200" b="1" dirty="0">
                <a:solidFill>
                  <a:srgbClr val="0D1B3E"/>
                </a:solidFill>
              </a:rPr>
              <a:t>100%</a:t>
            </a:r>
            <a:endParaRPr lang="en-US" sz="1200" dirty="0"/>
          </a:p>
        </p:txBody>
      </p:sp>
      <p:sp>
        <p:nvSpPr>
          <p:cNvPr id="32" name="Text 30"/>
          <p:cNvSpPr/>
          <p:nvPr/>
        </p:nvSpPr>
        <p:spPr>
          <a:xfrm>
            <a:off x="1325880" y="4288536"/>
            <a:ext cx="7315200" cy="274320"/>
          </a:xfrm>
          <a:prstGeom prst="rect">
            <a:avLst/>
          </a:prstGeom>
          <a:noFill/>
          <a:ln/>
        </p:spPr>
        <p:txBody>
          <a:bodyPr wrap="square" lIns="0" tIns="0" rIns="0" bIns="0" rtlCol="0" anchor="ctr"/>
          <a:lstStyle/>
          <a:p>
            <a:pPr indent="0" marL="0">
              <a:buNone/>
            </a:pPr>
            <a:r>
              <a:rPr lang="en-US" sz="1200" b="1" dirty="0">
                <a:solidFill>
                  <a:srgbClr val="1E293B"/>
                </a:solidFill>
              </a:rPr>
              <a:t>Word-of-mouth &amp; offline media marketing</a:t>
            </a:r>
            <a:endParaRPr lang="en-US" sz="1200" dirty="0"/>
          </a:p>
        </p:txBody>
      </p:sp>
      <p:sp>
        <p:nvSpPr>
          <p:cNvPr id="33" name="Text 31"/>
          <p:cNvSpPr/>
          <p:nvPr/>
        </p:nvSpPr>
        <p:spPr>
          <a:xfrm>
            <a:off x="1325880" y="4599432"/>
            <a:ext cx="7315200" cy="256032"/>
          </a:xfrm>
          <a:prstGeom prst="rect">
            <a:avLst/>
          </a:prstGeom>
          <a:noFill/>
          <a:ln/>
        </p:spPr>
        <p:txBody>
          <a:bodyPr wrap="square" lIns="0" tIns="0" rIns="0" bIns="0" rtlCol="0" anchor="ctr"/>
          <a:lstStyle/>
          <a:p>
            <a:pPr indent="0" marL="0">
              <a:buNone/>
            </a:pPr>
            <a:r>
              <a:rPr lang="en-US" sz="1000" i="1" dirty="0">
                <a:solidFill>
                  <a:srgbClr val="64748B"/>
                </a:solidFill>
              </a:rPr>
              <a:t>High social capital — amplifiable with data-driven digital marketing.</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9FA"/>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D1B3E"/>
          </a:solidFill>
          <a:ln w="12700">
            <a:solidFill>
              <a:srgbClr val="0D1B3E"/>
            </a:solidFill>
            <a:prstDash val="solid"/>
          </a:ln>
        </p:spPr>
      </p:sp>
      <p:sp>
        <p:nvSpPr>
          <p:cNvPr id="3" name="Text 1"/>
          <p:cNvSpPr/>
          <p:nvPr/>
        </p:nvSpPr>
        <p:spPr>
          <a:xfrm>
            <a:off x="365760" y="0"/>
            <a:ext cx="8229600" cy="960120"/>
          </a:xfrm>
          <a:prstGeom prst="rect">
            <a:avLst/>
          </a:prstGeom>
          <a:noFill/>
          <a:ln/>
        </p:spPr>
        <p:txBody>
          <a:bodyPr wrap="square" lIns="0" tIns="0" rIns="0" bIns="0" rtlCol="0" anchor="ctr"/>
          <a:lstStyle/>
          <a:p>
            <a:pPr indent="0" marL="0">
              <a:buNone/>
            </a:pPr>
            <a:r>
              <a:rPr lang="en-US" sz="1900" b="1" dirty="0">
                <a:solidFill>
                  <a:srgbClr val="FFFFFF"/>
                </a:solidFill>
              </a:rPr>
              <a:t>ANONYMIZED FINANCIAL ANALYSIS — DATA PIPELINE</a:t>
            </a:r>
            <a:endParaRPr lang="en-US" sz="1900" dirty="0"/>
          </a:p>
        </p:txBody>
      </p:sp>
      <p:sp>
        <p:nvSpPr>
          <p:cNvPr id="4" name="Shape 2"/>
          <p:cNvSpPr/>
          <p:nvPr/>
        </p:nvSpPr>
        <p:spPr>
          <a:xfrm>
            <a:off x="320040" y="1143000"/>
            <a:ext cx="8503920" cy="841248"/>
          </a:xfrm>
          <a:prstGeom prst="rect">
            <a:avLst/>
          </a:prstGeom>
          <a:solidFill>
            <a:srgbClr val="FFFFFF"/>
          </a:solidFill>
          <a:ln w="12700">
            <a:solidFill>
              <a:srgbClr val="E2E8F0"/>
            </a:solidFill>
            <a:prstDash val="solid"/>
          </a:ln>
        </p:spPr>
      </p:sp>
      <p:sp>
        <p:nvSpPr>
          <p:cNvPr id="5" name="Shape 3"/>
          <p:cNvSpPr/>
          <p:nvPr/>
        </p:nvSpPr>
        <p:spPr>
          <a:xfrm>
            <a:off x="320040" y="1143000"/>
            <a:ext cx="1828800" cy="841248"/>
          </a:xfrm>
          <a:prstGeom prst="rect">
            <a:avLst/>
          </a:prstGeom>
          <a:solidFill>
            <a:srgbClr val="028090"/>
          </a:solidFill>
          <a:ln w="12700">
            <a:solidFill>
              <a:srgbClr val="028090"/>
            </a:solidFill>
            <a:prstDash val="solid"/>
          </a:ln>
        </p:spPr>
      </p:sp>
      <p:sp>
        <p:nvSpPr>
          <p:cNvPr id="6" name="Text 4"/>
          <p:cNvSpPr/>
          <p:nvPr/>
        </p:nvSpPr>
        <p:spPr>
          <a:xfrm>
            <a:off x="320040" y="1143000"/>
            <a:ext cx="1828800" cy="841248"/>
          </a:xfrm>
          <a:prstGeom prst="rect">
            <a:avLst/>
          </a:prstGeom>
          <a:noFill/>
          <a:ln/>
        </p:spPr>
        <p:txBody>
          <a:bodyPr wrap="square" lIns="50800" tIns="50800" rIns="50800" bIns="50800" rtlCol="0" anchor="ctr"/>
          <a:lstStyle/>
          <a:p>
            <a:pPr algn="ctr" indent="0" marL="0">
              <a:buNone/>
            </a:pPr>
            <a:r>
              <a:rPr lang="en-US" sz="1200" b="1" dirty="0">
                <a:solidFill>
                  <a:srgbClr val="FFFFFF"/>
                </a:solidFill>
              </a:rPr>
              <a:t>Payroll</a:t>
            </a:r>
            <a:endParaRPr lang="en-US" sz="1200" dirty="0"/>
          </a:p>
        </p:txBody>
      </p:sp>
      <p:sp>
        <p:nvSpPr>
          <p:cNvPr id="7" name="Text 5"/>
          <p:cNvSpPr/>
          <p:nvPr/>
        </p:nvSpPr>
        <p:spPr>
          <a:xfrm>
            <a:off x="2286000" y="1234440"/>
            <a:ext cx="6400800" cy="658368"/>
          </a:xfrm>
          <a:prstGeom prst="rect">
            <a:avLst/>
          </a:prstGeom>
          <a:noFill/>
          <a:ln/>
        </p:spPr>
        <p:txBody>
          <a:bodyPr wrap="square" lIns="0" tIns="0" rIns="0" bIns="0" rtlCol="0" anchor="ctr"/>
          <a:lstStyle/>
          <a:p>
            <a:pPr indent="0" marL="0">
              <a:buNone/>
            </a:pPr>
            <a:r>
              <a:rPr lang="en-US" sz="1100" dirty="0">
                <a:solidFill>
                  <a:srgbClr val="1E293B"/>
                </a:solidFill>
              </a:rPr>
              <a:t>Distributed across operational, administrative, and management roles, with variable daily allowances per attendance — automatable with workforce optimization models.</a:t>
            </a:r>
            <a:endParaRPr lang="en-US" sz="1100" dirty="0"/>
          </a:p>
        </p:txBody>
      </p:sp>
      <p:sp>
        <p:nvSpPr>
          <p:cNvPr id="8" name="Shape 6"/>
          <p:cNvSpPr/>
          <p:nvPr/>
        </p:nvSpPr>
        <p:spPr>
          <a:xfrm>
            <a:off x="320040" y="2103120"/>
            <a:ext cx="8503920" cy="841248"/>
          </a:xfrm>
          <a:prstGeom prst="rect">
            <a:avLst/>
          </a:prstGeom>
          <a:solidFill>
            <a:srgbClr val="FFFFFF"/>
          </a:solidFill>
          <a:ln w="12700">
            <a:solidFill>
              <a:srgbClr val="E2E8F0"/>
            </a:solidFill>
            <a:prstDash val="solid"/>
          </a:ln>
        </p:spPr>
      </p:sp>
      <p:sp>
        <p:nvSpPr>
          <p:cNvPr id="9" name="Shape 7"/>
          <p:cNvSpPr/>
          <p:nvPr/>
        </p:nvSpPr>
        <p:spPr>
          <a:xfrm>
            <a:off x="320040" y="2103120"/>
            <a:ext cx="1828800" cy="841248"/>
          </a:xfrm>
          <a:prstGeom prst="rect">
            <a:avLst/>
          </a:prstGeom>
          <a:solidFill>
            <a:srgbClr val="1C7293"/>
          </a:solidFill>
          <a:ln w="12700">
            <a:solidFill>
              <a:srgbClr val="1C7293"/>
            </a:solidFill>
            <a:prstDash val="solid"/>
          </a:ln>
        </p:spPr>
      </p:sp>
      <p:sp>
        <p:nvSpPr>
          <p:cNvPr id="10" name="Text 8"/>
          <p:cNvSpPr/>
          <p:nvPr/>
        </p:nvSpPr>
        <p:spPr>
          <a:xfrm>
            <a:off x="320040" y="2103120"/>
            <a:ext cx="1828800" cy="841248"/>
          </a:xfrm>
          <a:prstGeom prst="rect">
            <a:avLst/>
          </a:prstGeom>
          <a:noFill/>
          <a:ln/>
        </p:spPr>
        <p:txBody>
          <a:bodyPr wrap="square" lIns="50800" tIns="50800" rIns="50800" bIns="50800" rtlCol="0" anchor="ctr"/>
          <a:lstStyle/>
          <a:p>
            <a:pPr algn="ctr" indent="0" marL="0">
              <a:buNone/>
            </a:pPr>
            <a:r>
              <a:rPr lang="en-US" sz="1200" b="1" dirty="0">
                <a:solidFill>
                  <a:srgbClr val="FFFFFF"/>
                </a:solidFill>
              </a:rPr>
              <a:t>Fixed Costs</a:t>
            </a:r>
            <a:endParaRPr lang="en-US" sz="1200" dirty="0"/>
          </a:p>
        </p:txBody>
      </p:sp>
      <p:sp>
        <p:nvSpPr>
          <p:cNvPr id="11" name="Text 9"/>
          <p:cNvSpPr/>
          <p:nvPr/>
        </p:nvSpPr>
        <p:spPr>
          <a:xfrm>
            <a:off x="2286000" y="2194560"/>
            <a:ext cx="6400800" cy="658368"/>
          </a:xfrm>
          <a:prstGeom prst="rect">
            <a:avLst/>
          </a:prstGeom>
          <a:noFill/>
          <a:ln/>
        </p:spPr>
        <p:txBody>
          <a:bodyPr wrap="square" lIns="0" tIns="0" rIns="0" bIns="0" rtlCol="0" anchor="ctr"/>
          <a:lstStyle/>
          <a:p>
            <a:pPr indent="0" marL="0">
              <a:buNone/>
            </a:pPr>
            <a:r>
              <a:rPr lang="en-US" sz="1100" dirty="0">
                <a:solidFill>
                  <a:srgbClr val="1E293B"/>
                </a:solidFill>
              </a:rPr>
              <a:t>Significant concentration in rent, utilities, and health benefits — a predictable and time-series-modelable cost base (ARIMA/Prophet applicable).</a:t>
            </a:r>
            <a:endParaRPr lang="en-US" sz="1100" dirty="0"/>
          </a:p>
        </p:txBody>
      </p:sp>
      <p:sp>
        <p:nvSpPr>
          <p:cNvPr id="12" name="Shape 10"/>
          <p:cNvSpPr/>
          <p:nvPr/>
        </p:nvSpPr>
        <p:spPr>
          <a:xfrm>
            <a:off x="320040" y="3063240"/>
            <a:ext cx="8503920" cy="841248"/>
          </a:xfrm>
          <a:prstGeom prst="rect">
            <a:avLst/>
          </a:prstGeom>
          <a:solidFill>
            <a:srgbClr val="FFFFFF"/>
          </a:solidFill>
          <a:ln w="12700">
            <a:solidFill>
              <a:srgbClr val="E2E8F0"/>
            </a:solidFill>
            <a:prstDash val="solid"/>
          </a:ln>
        </p:spPr>
      </p:sp>
      <p:sp>
        <p:nvSpPr>
          <p:cNvPr id="13" name="Shape 11"/>
          <p:cNvSpPr/>
          <p:nvPr/>
        </p:nvSpPr>
        <p:spPr>
          <a:xfrm>
            <a:off x="320040" y="3063240"/>
            <a:ext cx="1828800" cy="841248"/>
          </a:xfrm>
          <a:prstGeom prst="rect">
            <a:avLst/>
          </a:prstGeom>
          <a:solidFill>
            <a:srgbClr val="F4A261"/>
          </a:solidFill>
          <a:ln w="12700">
            <a:solidFill>
              <a:srgbClr val="F4A261"/>
            </a:solidFill>
            <a:prstDash val="solid"/>
          </a:ln>
        </p:spPr>
      </p:sp>
      <p:sp>
        <p:nvSpPr>
          <p:cNvPr id="14" name="Text 12"/>
          <p:cNvSpPr/>
          <p:nvPr/>
        </p:nvSpPr>
        <p:spPr>
          <a:xfrm>
            <a:off x="320040" y="3063240"/>
            <a:ext cx="1828800" cy="841248"/>
          </a:xfrm>
          <a:prstGeom prst="rect">
            <a:avLst/>
          </a:prstGeom>
          <a:noFill/>
          <a:ln/>
        </p:spPr>
        <p:txBody>
          <a:bodyPr wrap="square" lIns="50800" tIns="50800" rIns="50800" bIns="50800" rtlCol="0" anchor="ctr"/>
          <a:lstStyle/>
          <a:p>
            <a:pPr algn="ctr" indent="0" marL="0">
              <a:buNone/>
            </a:pPr>
            <a:r>
              <a:rPr lang="en-US" sz="1200" b="1" dirty="0">
                <a:solidFill>
                  <a:srgbClr val="FFFFFF"/>
                </a:solidFill>
              </a:rPr>
              <a:t>Pro-labore &amp; Consulting Fees</a:t>
            </a:r>
            <a:endParaRPr lang="en-US" sz="1200" dirty="0"/>
          </a:p>
        </p:txBody>
      </p:sp>
      <p:sp>
        <p:nvSpPr>
          <p:cNvPr id="15" name="Text 13"/>
          <p:cNvSpPr/>
          <p:nvPr/>
        </p:nvSpPr>
        <p:spPr>
          <a:xfrm>
            <a:off x="2286000" y="3154680"/>
            <a:ext cx="6400800" cy="658368"/>
          </a:xfrm>
          <a:prstGeom prst="rect">
            <a:avLst/>
          </a:prstGeom>
          <a:noFill/>
          <a:ln/>
        </p:spPr>
        <p:txBody>
          <a:bodyPr wrap="square" lIns="0" tIns="0" rIns="0" bIns="0" rtlCol="0" anchor="ctr"/>
          <a:lstStyle/>
          <a:p>
            <a:pPr indent="0" marL="0">
              <a:buNone/>
            </a:pPr>
            <a:r>
              <a:rPr lang="en-US" sz="1100" dirty="0">
                <a:solidFill>
                  <a:srgbClr val="1E293B"/>
                </a:solidFill>
              </a:rPr>
              <a:t>Identified as a high-impact EBITDA variable — sensitivity analysis recommended via Monte Carlo simulation.</a:t>
            </a:r>
            <a:endParaRPr lang="en-US" sz="1100" dirty="0"/>
          </a:p>
        </p:txBody>
      </p:sp>
      <p:sp>
        <p:nvSpPr>
          <p:cNvPr id="16" name="Shape 14"/>
          <p:cNvSpPr/>
          <p:nvPr/>
        </p:nvSpPr>
        <p:spPr>
          <a:xfrm>
            <a:off x="320040" y="4023360"/>
            <a:ext cx="8503920" cy="841248"/>
          </a:xfrm>
          <a:prstGeom prst="rect">
            <a:avLst/>
          </a:prstGeom>
          <a:solidFill>
            <a:srgbClr val="FFFFFF"/>
          </a:solidFill>
          <a:ln w="12700">
            <a:solidFill>
              <a:srgbClr val="E2E8F0"/>
            </a:solidFill>
            <a:prstDash val="solid"/>
          </a:ln>
        </p:spPr>
      </p:sp>
      <p:sp>
        <p:nvSpPr>
          <p:cNvPr id="17" name="Shape 15"/>
          <p:cNvSpPr/>
          <p:nvPr/>
        </p:nvSpPr>
        <p:spPr>
          <a:xfrm>
            <a:off x="320040" y="4023360"/>
            <a:ext cx="1828800" cy="841248"/>
          </a:xfrm>
          <a:prstGeom prst="rect">
            <a:avLst/>
          </a:prstGeom>
          <a:solidFill>
            <a:srgbClr val="E63946"/>
          </a:solidFill>
          <a:ln w="12700">
            <a:solidFill>
              <a:srgbClr val="E63946"/>
            </a:solidFill>
            <a:prstDash val="solid"/>
          </a:ln>
        </p:spPr>
      </p:sp>
      <p:sp>
        <p:nvSpPr>
          <p:cNvPr id="18" name="Text 16"/>
          <p:cNvSpPr/>
          <p:nvPr/>
        </p:nvSpPr>
        <p:spPr>
          <a:xfrm>
            <a:off x="320040" y="4023360"/>
            <a:ext cx="1828800" cy="841248"/>
          </a:xfrm>
          <a:prstGeom prst="rect">
            <a:avLst/>
          </a:prstGeom>
          <a:noFill/>
          <a:ln/>
        </p:spPr>
        <p:txBody>
          <a:bodyPr wrap="square" lIns="50800" tIns="50800" rIns="50800" bIns="50800" rtlCol="0" anchor="ctr"/>
          <a:lstStyle/>
          <a:p>
            <a:pPr algn="ctr" indent="0" marL="0">
              <a:buNone/>
            </a:pPr>
            <a:r>
              <a:rPr lang="en-US" sz="1200" b="1" dirty="0">
                <a:solidFill>
                  <a:srgbClr val="FFFFFF"/>
                </a:solidFill>
              </a:rPr>
              <a:t>Total Mapped Cost</a:t>
            </a:r>
            <a:endParaRPr lang="en-US" sz="1200" dirty="0"/>
          </a:p>
        </p:txBody>
      </p:sp>
      <p:sp>
        <p:nvSpPr>
          <p:cNvPr id="19" name="Text 17"/>
          <p:cNvSpPr/>
          <p:nvPr/>
        </p:nvSpPr>
        <p:spPr>
          <a:xfrm>
            <a:off x="2286000" y="4114800"/>
            <a:ext cx="6400800" cy="658368"/>
          </a:xfrm>
          <a:prstGeom prst="rect">
            <a:avLst/>
          </a:prstGeom>
          <a:noFill/>
          <a:ln/>
        </p:spPr>
        <p:txBody>
          <a:bodyPr wrap="square" lIns="0" tIns="0" rIns="0" bIns="0" rtlCol="0" anchor="ctr"/>
          <a:lstStyle/>
          <a:p>
            <a:pPr indent="0" marL="0">
              <a:buNone/>
            </a:pPr>
            <a:r>
              <a:rPr lang="en-US" sz="1100" dirty="0">
                <a:solidFill>
                  <a:srgbClr val="1E293B"/>
                </a:solidFill>
              </a:rPr>
              <a:t>A significant monthly cost base across multiple units, with a notable share concentrated in the primary unit — a key indicator for expansion or rationalization decisions.</a:t>
            </a:r>
            <a:endParaRPr lang="en-US" sz="1100" dirty="0"/>
          </a:p>
        </p:txBody>
      </p:sp>
      <p:sp>
        <p:nvSpPr>
          <p:cNvPr id="20" name="Text 18"/>
          <p:cNvSpPr/>
          <p:nvPr/>
        </p:nvSpPr>
        <p:spPr>
          <a:xfrm>
            <a:off x="320040" y="4919472"/>
            <a:ext cx="8503920" cy="219456"/>
          </a:xfrm>
          <a:prstGeom prst="rect">
            <a:avLst/>
          </a:prstGeom>
          <a:noFill/>
          <a:ln/>
        </p:spPr>
        <p:txBody>
          <a:bodyPr wrap="square" lIns="0" tIns="0" rIns="0" bIns="0" rtlCol="0" anchor="ctr"/>
          <a:lstStyle/>
          <a:p>
            <a:pPr indent="0" marL="0">
              <a:buNone/>
            </a:pPr>
            <a:r>
              <a:rPr lang="en-US" sz="900" i="1" dirty="0">
                <a:solidFill>
                  <a:srgbClr val="64748B"/>
                </a:solidFill>
              </a:rPr>
              <a:t>All financial data has been fully anonymized. No real values, CNPJs, or client names are present.</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28090"/>
          </a:solidFill>
          <a:ln w="12700">
            <a:solidFill>
              <a:srgbClr val="028090"/>
            </a:solidFill>
            <a:prstDash val="solid"/>
          </a:ln>
        </p:spPr>
      </p:sp>
      <p:sp>
        <p:nvSpPr>
          <p:cNvPr id="3" name="Text 1"/>
          <p:cNvSpPr/>
          <p:nvPr/>
        </p:nvSpPr>
        <p:spPr>
          <a:xfrm>
            <a:off x="365760" y="0"/>
            <a:ext cx="8229600" cy="960120"/>
          </a:xfrm>
          <a:prstGeom prst="rect">
            <a:avLst/>
          </a:prstGeom>
          <a:noFill/>
          <a:ln/>
        </p:spPr>
        <p:txBody>
          <a:bodyPr wrap="square" lIns="0" tIns="0" rIns="0" bIns="0" rtlCol="0" anchor="ctr"/>
          <a:lstStyle/>
          <a:p>
            <a:pPr indent="0" marL="0">
              <a:buNone/>
            </a:pPr>
            <a:r>
              <a:rPr lang="en-US" sz="1900" b="1" dirty="0">
                <a:solidFill>
                  <a:srgbClr val="FFFFFF"/>
                </a:solidFill>
              </a:rPr>
              <a:t>ANALYTICS APPLICATIONS — APPLIED &amp; PROPOSED</a:t>
            </a:r>
            <a:endParaRPr lang="en-US" sz="1900" dirty="0"/>
          </a:p>
        </p:txBody>
      </p:sp>
      <p:sp>
        <p:nvSpPr>
          <p:cNvPr id="4" name="Shape 2"/>
          <p:cNvSpPr/>
          <p:nvPr/>
        </p:nvSpPr>
        <p:spPr>
          <a:xfrm>
            <a:off x="320040" y="1097280"/>
            <a:ext cx="2788920" cy="1389888"/>
          </a:xfrm>
          <a:prstGeom prst="rect">
            <a:avLst/>
          </a:prstGeom>
          <a:solidFill>
            <a:srgbClr val="F5F9FA"/>
          </a:solidFill>
          <a:ln w="12700">
            <a:solidFill>
              <a:srgbClr val="E2E8F0"/>
            </a:solidFill>
            <a:prstDash val="solid"/>
          </a:ln>
        </p:spPr>
      </p:sp>
      <p:sp>
        <p:nvSpPr>
          <p:cNvPr id="5" name="Shape 3"/>
          <p:cNvSpPr/>
          <p:nvPr/>
        </p:nvSpPr>
        <p:spPr>
          <a:xfrm>
            <a:off x="320040" y="1097280"/>
            <a:ext cx="2788920" cy="347472"/>
          </a:xfrm>
          <a:prstGeom prst="rect">
            <a:avLst/>
          </a:prstGeom>
          <a:solidFill>
            <a:srgbClr val="0D1B3E"/>
          </a:solidFill>
          <a:ln w="12700">
            <a:solidFill>
              <a:srgbClr val="0D1B3E"/>
            </a:solidFill>
            <a:prstDash val="solid"/>
          </a:ln>
        </p:spPr>
      </p:sp>
      <p:sp>
        <p:nvSpPr>
          <p:cNvPr id="6" name="Text 4"/>
          <p:cNvSpPr/>
          <p:nvPr/>
        </p:nvSpPr>
        <p:spPr>
          <a:xfrm>
            <a:off x="411480" y="1097280"/>
            <a:ext cx="2011680" cy="347472"/>
          </a:xfrm>
          <a:prstGeom prst="rect">
            <a:avLst/>
          </a:prstGeom>
          <a:noFill/>
          <a:ln/>
        </p:spPr>
        <p:txBody>
          <a:bodyPr wrap="square" lIns="0" tIns="0" rIns="0" bIns="0" rtlCol="0" anchor="ctr"/>
          <a:lstStyle/>
          <a:p>
            <a:pPr indent="0" marL="0">
              <a:buNone/>
            </a:pPr>
            <a:r>
              <a:rPr lang="en-US" sz="1200" b="1" dirty="0">
                <a:solidFill>
                  <a:srgbClr val="FFFFFF"/>
                </a:solidFill>
              </a:rPr>
              <a:t>K-Means</a:t>
            </a:r>
            <a:endParaRPr lang="en-US" sz="1200" dirty="0"/>
          </a:p>
        </p:txBody>
      </p:sp>
      <p:sp>
        <p:nvSpPr>
          <p:cNvPr id="7" name="Shape 5"/>
          <p:cNvSpPr/>
          <p:nvPr/>
        </p:nvSpPr>
        <p:spPr>
          <a:xfrm>
            <a:off x="2194560" y="1143000"/>
            <a:ext cx="822960" cy="256032"/>
          </a:xfrm>
          <a:prstGeom prst="rect">
            <a:avLst/>
          </a:prstGeom>
          <a:solidFill>
            <a:srgbClr val="02C39A"/>
          </a:solidFill>
          <a:ln w="12700">
            <a:solidFill>
              <a:srgbClr val="02C39A"/>
            </a:solidFill>
            <a:prstDash val="solid"/>
          </a:ln>
        </p:spPr>
      </p:sp>
      <p:sp>
        <p:nvSpPr>
          <p:cNvPr id="8" name="Text 6"/>
          <p:cNvSpPr/>
          <p:nvPr/>
        </p:nvSpPr>
        <p:spPr>
          <a:xfrm>
            <a:off x="2194560" y="1143000"/>
            <a:ext cx="822960" cy="256032"/>
          </a:xfrm>
          <a:prstGeom prst="rect">
            <a:avLst/>
          </a:prstGeom>
          <a:noFill/>
          <a:ln/>
        </p:spPr>
        <p:txBody>
          <a:bodyPr wrap="square" lIns="0" tIns="0" rIns="0" bIns="0" rtlCol="0" anchor="ctr"/>
          <a:lstStyle/>
          <a:p>
            <a:pPr algn="ctr" indent="0" marL="0">
              <a:buNone/>
            </a:pPr>
            <a:r>
              <a:rPr lang="en-US" sz="800" b="1" dirty="0">
                <a:solidFill>
                  <a:srgbClr val="0D1B3E"/>
                </a:solidFill>
              </a:rPr>
              <a:t>Applied</a:t>
            </a:r>
            <a:endParaRPr lang="en-US" sz="800" dirty="0"/>
          </a:p>
        </p:txBody>
      </p:sp>
      <p:sp>
        <p:nvSpPr>
          <p:cNvPr id="9" name="Text 7"/>
          <p:cNvSpPr/>
          <p:nvPr/>
        </p:nvSpPr>
        <p:spPr>
          <a:xfrm>
            <a:off x="411480" y="1481328"/>
            <a:ext cx="2606040" cy="256032"/>
          </a:xfrm>
          <a:prstGeom prst="rect">
            <a:avLst/>
          </a:prstGeom>
          <a:noFill/>
          <a:ln/>
        </p:spPr>
        <p:txBody>
          <a:bodyPr wrap="square" lIns="0" tIns="0" rIns="0" bIns="0" rtlCol="0" anchor="ctr"/>
          <a:lstStyle/>
          <a:p>
            <a:pPr indent="0" marL="0">
              <a:buNone/>
            </a:pPr>
            <a:r>
              <a:rPr lang="en-US" sz="1100" b="1" dirty="0">
                <a:solidFill>
                  <a:srgbClr val="1E293B"/>
                </a:solidFill>
              </a:rPr>
              <a:t>Maturity Clustering</a:t>
            </a:r>
            <a:endParaRPr lang="en-US" sz="1100" dirty="0"/>
          </a:p>
        </p:txBody>
      </p:sp>
      <p:sp>
        <p:nvSpPr>
          <p:cNvPr id="10" name="Text 8"/>
          <p:cNvSpPr/>
          <p:nvPr/>
        </p:nvSpPr>
        <p:spPr>
          <a:xfrm>
            <a:off x="411480" y="1773936"/>
            <a:ext cx="2606040" cy="658368"/>
          </a:xfrm>
          <a:prstGeom prst="rect">
            <a:avLst/>
          </a:prstGeom>
          <a:noFill/>
          <a:ln/>
        </p:spPr>
        <p:txBody>
          <a:bodyPr wrap="square" lIns="0" tIns="0" rIns="0" bIns="0" rtlCol="0" anchor="ctr"/>
          <a:lstStyle/>
          <a:p>
            <a:pPr indent="0" marL="0">
              <a:buNone/>
            </a:pPr>
            <a:r>
              <a:rPr lang="en-US" sz="1000" dirty="0">
                <a:solidFill>
                  <a:srgbClr val="64748B"/>
                </a:solidFill>
              </a:rPr>
              <a:t>Group companies by deficiency profile for benchmarking. Silhouette 0.61, k=3.</a:t>
            </a:r>
            <a:endParaRPr lang="en-US" sz="1000" dirty="0"/>
          </a:p>
        </p:txBody>
      </p:sp>
      <p:sp>
        <p:nvSpPr>
          <p:cNvPr id="11" name="Shape 9"/>
          <p:cNvSpPr/>
          <p:nvPr/>
        </p:nvSpPr>
        <p:spPr>
          <a:xfrm>
            <a:off x="320040" y="2651760"/>
            <a:ext cx="2788920" cy="1389888"/>
          </a:xfrm>
          <a:prstGeom prst="rect">
            <a:avLst/>
          </a:prstGeom>
          <a:solidFill>
            <a:srgbClr val="F5F9FA"/>
          </a:solidFill>
          <a:ln w="12700">
            <a:solidFill>
              <a:srgbClr val="E2E8F0"/>
            </a:solidFill>
            <a:prstDash val="solid"/>
          </a:ln>
        </p:spPr>
      </p:sp>
      <p:sp>
        <p:nvSpPr>
          <p:cNvPr id="12" name="Shape 10"/>
          <p:cNvSpPr/>
          <p:nvPr/>
        </p:nvSpPr>
        <p:spPr>
          <a:xfrm>
            <a:off x="320040" y="2651760"/>
            <a:ext cx="2788920" cy="347472"/>
          </a:xfrm>
          <a:prstGeom prst="rect">
            <a:avLst/>
          </a:prstGeom>
          <a:solidFill>
            <a:srgbClr val="0D1B3E"/>
          </a:solidFill>
          <a:ln w="12700">
            <a:solidFill>
              <a:srgbClr val="0D1B3E"/>
            </a:solidFill>
            <a:prstDash val="solid"/>
          </a:ln>
        </p:spPr>
      </p:sp>
      <p:sp>
        <p:nvSpPr>
          <p:cNvPr id="13" name="Text 11"/>
          <p:cNvSpPr/>
          <p:nvPr/>
        </p:nvSpPr>
        <p:spPr>
          <a:xfrm>
            <a:off x="411480" y="2651760"/>
            <a:ext cx="2011680" cy="347472"/>
          </a:xfrm>
          <a:prstGeom prst="rect">
            <a:avLst/>
          </a:prstGeom>
          <a:noFill/>
          <a:ln/>
        </p:spPr>
        <p:txBody>
          <a:bodyPr wrap="square" lIns="0" tIns="0" rIns="0" bIns="0" rtlCol="0" anchor="ctr"/>
          <a:lstStyle/>
          <a:p>
            <a:pPr indent="0" marL="0">
              <a:buNone/>
            </a:pPr>
            <a:r>
              <a:rPr lang="en-US" sz="1200" b="1" dirty="0">
                <a:solidFill>
                  <a:srgbClr val="FFFFFF"/>
                </a:solidFill>
              </a:rPr>
              <a:t>Power BI + Python</a:t>
            </a:r>
            <a:endParaRPr lang="en-US" sz="1200" dirty="0"/>
          </a:p>
        </p:txBody>
      </p:sp>
      <p:sp>
        <p:nvSpPr>
          <p:cNvPr id="14" name="Shape 12"/>
          <p:cNvSpPr/>
          <p:nvPr/>
        </p:nvSpPr>
        <p:spPr>
          <a:xfrm>
            <a:off x="2194560" y="2697480"/>
            <a:ext cx="822960" cy="256032"/>
          </a:xfrm>
          <a:prstGeom prst="rect">
            <a:avLst/>
          </a:prstGeom>
          <a:solidFill>
            <a:srgbClr val="02C39A"/>
          </a:solidFill>
          <a:ln w="12700">
            <a:solidFill>
              <a:srgbClr val="02C39A"/>
            </a:solidFill>
            <a:prstDash val="solid"/>
          </a:ln>
        </p:spPr>
      </p:sp>
      <p:sp>
        <p:nvSpPr>
          <p:cNvPr id="15" name="Text 13"/>
          <p:cNvSpPr/>
          <p:nvPr/>
        </p:nvSpPr>
        <p:spPr>
          <a:xfrm>
            <a:off x="2194560" y="2697480"/>
            <a:ext cx="822960" cy="256032"/>
          </a:xfrm>
          <a:prstGeom prst="rect">
            <a:avLst/>
          </a:prstGeom>
          <a:noFill/>
          <a:ln/>
        </p:spPr>
        <p:txBody>
          <a:bodyPr wrap="square" lIns="0" tIns="0" rIns="0" bIns="0" rtlCol="0" anchor="ctr"/>
          <a:lstStyle/>
          <a:p>
            <a:pPr algn="ctr" indent="0" marL="0">
              <a:buNone/>
            </a:pPr>
            <a:r>
              <a:rPr lang="en-US" sz="800" b="1" dirty="0">
                <a:solidFill>
                  <a:srgbClr val="0D1B3E"/>
                </a:solidFill>
              </a:rPr>
              <a:t>Applied</a:t>
            </a:r>
            <a:endParaRPr lang="en-US" sz="800" dirty="0"/>
          </a:p>
        </p:txBody>
      </p:sp>
      <p:sp>
        <p:nvSpPr>
          <p:cNvPr id="16" name="Text 14"/>
          <p:cNvSpPr/>
          <p:nvPr/>
        </p:nvSpPr>
        <p:spPr>
          <a:xfrm>
            <a:off x="411480" y="3035808"/>
            <a:ext cx="2606040" cy="256032"/>
          </a:xfrm>
          <a:prstGeom prst="rect">
            <a:avLst/>
          </a:prstGeom>
          <a:noFill/>
          <a:ln/>
        </p:spPr>
        <p:txBody>
          <a:bodyPr wrap="square" lIns="0" tIns="0" rIns="0" bIns="0" rtlCol="0" anchor="ctr"/>
          <a:lstStyle/>
          <a:p>
            <a:pPr indent="0" marL="0">
              <a:buNone/>
            </a:pPr>
            <a:r>
              <a:rPr lang="en-US" sz="1100" b="1" dirty="0">
                <a:solidFill>
                  <a:srgbClr val="1E293B"/>
                </a:solidFill>
              </a:rPr>
              <a:t>Predictive Dashboards</a:t>
            </a:r>
            <a:endParaRPr lang="en-US" sz="1100" dirty="0"/>
          </a:p>
        </p:txBody>
      </p:sp>
      <p:sp>
        <p:nvSpPr>
          <p:cNvPr id="17" name="Text 15"/>
          <p:cNvSpPr/>
          <p:nvPr/>
        </p:nvSpPr>
        <p:spPr>
          <a:xfrm>
            <a:off x="411480" y="3328416"/>
            <a:ext cx="2606040" cy="658368"/>
          </a:xfrm>
          <a:prstGeom prst="rect">
            <a:avLst/>
          </a:prstGeom>
          <a:noFill/>
          <a:ln/>
        </p:spPr>
        <p:txBody>
          <a:bodyPr wrap="square" lIns="0" tIns="0" rIns="0" bIns="0" rtlCol="0" anchor="ctr"/>
          <a:lstStyle/>
          <a:p>
            <a:pPr indent="0" marL="0">
              <a:buNone/>
            </a:pPr>
            <a:r>
              <a:rPr lang="en-US" sz="1000" dirty="0">
                <a:solidFill>
                  <a:srgbClr val="64748B"/>
                </a:solidFill>
              </a:rPr>
              <a:t>Integrated KPI panel — financial, operational, marketing metrics unified.</a:t>
            </a:r>
            <a:endParaRPr lang="en-US" sz="1000" dirty="0"/>
          </a:p>
        </p:txBody>
      </p:sp>
      <p:sp>
        <p:nvSpPr>
          <p:cNvPr id="18" name="Shape 16"/>
          <p:cNvSpPr/>
          <p:nvPr/>
        </p:nvSpPr>
        <p:spPr>
          <a:xfrm>
            <a:off x="3291840" y="1097280"/>
            <a:ext cx="2788920" cy="1389888"/>
          </a:xfrm>
          <a:prstGeom prst="rect">
            <a:avLst/>
          </a:prstGeom>
          <a:solidFill>
            <a:srgbClr val="F5F9FA"/>
          </a:solidFill>
          <a:ln w="12700">
            <a:solidFill>
              <a:srgbClr val="E2E8F0"/>
            </a:solidFill>
            <a:prstDash val="solid"/>
          </a:ln>
        </p:spPr>
      </p:sp>
      <p:sp>
        <p:nvSpPr>
          <p:cNvPr id="19" name="Shape 17"/>
          <p:cNvSpPr/>
          <p:nvPr/>
        </p:nvSpPr>
        <p:spPr>
          <a:xfrm>
            <a:off x="3291840" y="1097280"/>
            <a:ext cx="2788920" cy="347472"/>
          </a:xfrm>
          <a:prstGeom prst="rect">
            <a:avLst/>
          </a:prstGeom>
          <a:solidFill>
            <a:srgbClr val="0D1B3E"/>
          </a:solidFill>
          <a:ln w="12700">
            <a:solidFill>
              <a:srgbClr val="0D1B3E"/>
            </a:solidFill>
            <a:prstDash val="solid"/>
          </a:ln>
        </p:spPr>
      </p:sp>
      <p:sp>
        <p:nvSpPr>
          <p:cNvPr id="20" name="Text 18"/>
          <p:cNvSpPr/>
          <p:nvPr/>
        </p:nvSpPr>
        <p:spPr>
          <a:xfrm>
            <a:off x="3383280" y="1097280"/>
            <a:ext cx="2011680" cy="347472"/>
          </a:xfrm>
          <a:prstGeom prst="rect">
            <a:avLst/>
          </a:prstGeom>
          <a:noFill/>
          <a:ln/>
        </p:spPr>
        <p:txBody>
          <a:bodyPr wrap="square" lIns="0" tIns="0" rIns="0" bIns="0" rtlCol="0" anchor="ctr"/>
          <a:lstStyle/>
          <a:p>
            <a:pPr indent="0" marL="0">
              <a:buNone/>
            </a:pPr>
            <a:r>
              <a:rPr lang="en-US" sz="1200" b="1" dirty="0">
                <a:solidFill>
                  <a:srgbClr val="FFFFFF"/>
                </a:solidFill>
              </a:rPr>
              <a:t>ARIMA / Prophet</a:t>
            </a:r>
            <a:endParaRPr lang="en-US" sz="1200" dirty="0"/>
          </a:p>
        </p:txBody>
      </p:sp>
      <p:sp>
        <p:nvSpPr>
          <p:cNvPr id="21" name="Shape 19"/>
          <p:cNvSpPr/>
          <p:nvPr/>
        </p:nvSpPr>
        <p:spPr>
          <a:xfrm>
            <a:off x="5166360" y="1143000"/>
            <a:ext cx="822960" cy="256032"/>
          </a:xfrm>
          <a:prstGeom prst="rect">
            <a:avLst/>
          </a:prstGeom>
          <a:solidFill>
            <a:srgbClr val="F4A261"/>
          </a:solidFill>
          <a:ln w="12700">
            <a:solidFill>
              <a:srgbClr val="F4A261"/>
            </a:solidFill>
            <a:prstDash val="solid"/>
          </a:ln>
        </p:spPr>
      </p:sp>
      <p:sp>
        <p:nvSpPr>
          <p:cNvPr id="22" name="Text 20"/>
          <p:cNvSpPr/>
          <p:nvPr/>
        </p:nvSpPr>
        <p:spPr>
          <a:xfrm>
            <a:off x="5166360" y="1143000"/>
            <a:ext cx="822960" cy="256032"/>
          </a:xfrm>
          <a:prstGeom prst="rect">
            <a:avLst/>
          </a:prstGeom>
          <a:noFill/>
          <a:ln/>
        </p:spPr>
        <p:txBody>
          <a:bodyPr wrap="square" lIns="0" tIns="0" rIns="0" bIns="0" rtlCol="0" anchor="ctr"/>
          <a:lstStyle/>
          <a:p>
            <a:pPr algn="ctr" indent="0" marL="0">
              <a:buNone/>
            </a:pPr>
            <a:r>
              <a:rPr lang="en-US" sz="800" b="1" dirty="0">
                <a:solidFill>
                  <a:srgbClr val="0D1B3E"/>
                </a:solidFill>
              </a:rPr>
              <a:t>Proposed</a:t>
            </a:r>
            <a:endParaRPr lang="en-US" sz="800" dirty="0"/>
          </a:p>
        </p:txBody>
      </p:sp>
      <p:sp>
        <p:nvSpPr>
          <p:cNvPr id="23" name="Text 21"/>
          <p:cNvSpPr/>
          <p:nvPr/>
        </p:nvSpPr>
        <p:spPr>
          <a:xfrm>
            <a:off x="3383280" y="1481328"/>
            <a:ext cx="2606040" cy="256032"/>
          </a:xfrm>
          <a:prstGeom prst="rect">
            <a:avLst/>
          </a:prstGeom>
          <a:noFill/>
          <a:ln/>
        </p:spPr>
        <p:txBody>
          <a:bodyPr wrap="square" lIns="0" tIns="0" rIns="0" bIns="0" rtlCol="0" anchor="ctr"/>
          <a:lstStyle/>
          <a:p>
            <a:pPr indent="0" marL="0">
              <a:buNone/>
            </a:pPr>
            <a:r>
              <a:rPr lang="en-US" sz="1100" b="1" dirty="0">
                <a:solidFill>
                  <a:srgbClr val="1E293B"/>
                </a:solidFill>
              </a:rPr>
              <a:t>Time Series Forecasting</a:t>
            </a:r>
            <a:endParaRPr lang="en-US" sz="1100" dirty="0"/>
          </a:p>
        </p:txBody>
      </p:sp>
      <p:sp>
        <p:nvSpPr>
          <p:cNvPr id="24" name="Text 22"/>
          <p:cNvSpPr/>
          <p:nvPr/>
        </p:nvSpPr>
        <p:spPr>
          <a:xfrm>
            <a:off x="3383280" y="1773936"/>
            <a:ext cx="2606040" cy="658368"/>
          </a:xfrm>
          <a:prstGeom prst="rect">
            <a:avLst/>
          </a:prstGeom>
          <a:noFill/>
          <a:ln/>
        </p:spPr>
        <p:txBody>
          <a:bodyPr wrap="square" lIns="0" tIns="0" rIns="0" bIns="0" rtlCol="0" anchor="ctr"/>
          <a:lstStyle/>
          <a:p>
            <a:pPr indent="0" marL="0">
              <a:buNone/>
            </a:pPr>
            <a:r>
              <a:rPr lang="en-US" sz="1000" dirty="0">
                <a:solidFill>
                  <a:srgbClr val="64748B"/>
                </a:solidFill>
              </a:rPr>
              <a:t>Project fixed costs and cash flow from historical data — time-series-ready cost base identified.</a:t>
            </a:r>
            <a:endParaRPr lang="en-US" sz="1000" dirty="0"/>
          </a:p>
        </p:txBody>
      </p:sp>
      <p:sp>
        <p:nvSpPr>
          <p:cNvPr id="25" name="Shape 23"/>
          <p:cNvSpPr/>
          <p:nvPr/>
        </p:nvSpPr>
        <p:spPr>
          <a:xfrm>
            <a:off x="3291840" y="2651760"/>
            <a:ext cx="2788920" cy="1389888"/>
          </a:xfrm>
          <a:prstGeom prst="rect">
            <a:avLst/>
          </a:prstGeom>
          <a:solidFill>
            <a:srgbClr val="F5F9FA"/>
          </a:solidFill>
          <a:ln w="12700">
            <a:solidFill>
              <a:srgbClr val="E2E8F0"/>
            </a:solidFill>
            <a:prstDash val="solid"/>
          </a:ln>
        </p:spPr>
      </p:sp>
      <p:sp>
        <p:nvSpPr>
          <p:cNvPr id="26" name="Shape 24"/>
          <p:cNvSpPr/>
          <p:nvPr/>
        </p:nvSpPr>
        <p:spPr>
          <a:xfrm>
            <a:off x="3291840" y="2651760"/>
            <a:ext cx="2788920" cy="347472"/>
          </a:xfrm>
          <a:prstGeom prst="rect">
            <a:avLst/>
          </a:prstGeom>
          <a:solidFill>
            <a:srgbClr val="0D1B3E"/>
          </a:solidFill>
          <a:ln w="12700">
            <a:solidFill>
              <a:srgbClr val="0D1B3E"/>
            </a:solidFill>
            <a:prstDash val="solid"/>
          </a:ln>
        </p:spPr>
      </p:sp>
      <p:sp>
        <p:nvSpPr>
          <p:cNvPr id="27" name="Text 25"/>
          <p:cNvSpPr/>
          <p:nvPr/>
        </p:nvSpPr>
        <p:spPr>
          <a:xfrm>
            <a:off x="3383280" y="2651760"/>
            <a:ext cx="2011680" cy="347472"/>
          </a:xfrm>
          <a:prstGeom prst="rect">
            <a:avLst/>
          </a:prstGeom>
          <a:noFill/>
          <a:ln/>
        </p:spPr>
        <p:txBody>
          <a:bodyPr wrap="square" lIns="0" tIns="0" rIns="0" bIns="0" rtlCol="0" anchor="ctr"/>
          <a:lstStyle/>
          <a:p>
            <a:pPr indent="0" marL="0">
              <a:buNone/>
            </a:pPr>
            <a:r>
              <a:rPr lang="en-US" sz="1200" b="1" dirty="0">
                <a:solidFill>
                  <a:srgbClr val="FFFFFF"/>
                </a:solidFill>
              </a:rPr>
              <a:t>BERT / LLM</a:t>
            </a:r>
            <a:endParaRPr lang="en-US" sz="1200" dirty="0"/>
          </a:p>
        </p:txBody>
      </p:sp>
      <p:sp>
        <p:nvSpPr>
          <p:cNvPr id="28" name="Shape 26"/>
          <p:cNvSpPr/>
          <p:nvPr/>
        </p:nvSpPr>
        <p:spPr>
          <a:xfrm>
            <a:off x="5166360" y="2697480"/>
            <a:ext cx="822960" cy="256032"/>
          </a:xfrm>
          <a:prstGeom prst="rect">
            <a:avLst/>
          </a:prstGeom>
          <a:solidFill>
            <a:srgbClr val="F4A261"/>
          </a:solidFill>
          <a:ln w="12700">
            <a:solidFill>
              <a:srgbClr val="F4A261"/>
            </a:solidFill>
            <a:prstDash val="solid"/>
          </a:ln>
        </p:spPr>
      </p:sp>
      <p:sp>
        <p:nvSpPr>
          <p:cNvPr id="29" name="Text 27"/>
          <p:cNvSpPr/>
          <p:nvPr/>
        </p:nvSpPr>
        <p:spPr>
          <a:xfrm>
            <a:off x="5166360" y="2697480"/>
            <a:ext cx="822960" cy="256032"/>
          </a:xfrm>
          <a:prstGeom prst="rect">
            <a:avLst/>
          </a:prstGeom>
          <a:noFill/>
          <a:ln/>
        </p:spPr>
        <p:txBody>
          <a:bodyPr wrap="square" lIns="0" tIns="0" rIns="0" bIns="0" rtlCol="0" anchor="ctr"/>
          <a:lstStyle/>
          <a:p>
            <a:pPr algn="ctr" indent="0" marL="0">
              <a:buNone/>
            </a:pPr>
            <a:r>
              <a:rPr lang="en-US" sz="800" b="1" dirty="0">
                <a:solidFill>
                  <a:srgbClr val="0D1B3E"/>
                </a:solidFill>
              </a:rPr>
              <a:t>Proposed</a:t>
            </a:r>
            <a:endParaRPr lang="en-US" sz="800" dirty="0"/>
          </a:p>
        </p:txBody>
      </p:sp>
      <p:sp>
        <p:nvSpPr>
          <p:cNvPr id="30" name="Text 28"/>
          <p:cNvSpPr/>
          <p:nvPr/>
        </p:nvSpPr>
        <p:spPr>
          <a:xfrm>
            <a:off x="3383280" y="3035808"/>
            <a:ext cx="2606040" cy="256032"/>
          </a:xfrm>
          <a:prstGeom prst="rect">
            <a:avLst/>
          </a:prstGeom>
          <a:noFill/>
          <a:ln/>
        </p:spPr>
        <p:txBody>
          <a:bodyPr wrap="square" lIns="0" tIns="0" rIns="0" bIns="0" rtlCol="0" anchor="ctr"/>
          <a:lstStyle/>
          <a:p>
            <a:pPr indent="0" marL="0">
              <a:buNone/>
            </a:pPr>
            <a:r>
              <a:rPr lang="en-US" sz="1100" b="1" dirty="0">
                <a:solidFill>
                  <a:srgbClr val="1E293B"/>
                </a:solidFill>
              </a:rPr>
              <a:t>NLP on Qualitative Feedback</a:t>
            </a:r>
            <a:endParaRPr lang="en-US" sz="1100" dirty="0"/>
          </a:p>
        </p:txBody>
      </p:sp>
      <p:sp>
        <p:nvSpPr>
          <p:cNvPr id="31" name="Text 29"/>
          <p:cNvSpPr/>
          <p:nvPr/>
        </p:nvSpPr>
        <p:spPr>
          <a:xfrm>
            <a:off x="3383280" y="3328416"/>
            <a:ext cx="2606040" cy="658368"/>
          </a:xfrm>
          <a:prstGeom prst="rect">
            <a:avLst/>
          </a:prstGeom>
          <a:noFill/>
          <a:ln/>
        </p:spPr>
        <p:txBody>
          <a:bodyPr wrap="square" lIns="0" tIns="0" rIns="0" bIns="0" rtlCol="0" anchor="ctr"/>
          <a:lstStyle/>
          <a:p>
            <a:pPr indent="0" marL="0">
              <a:buNone/>
            </a:pPr>
            <a:r>
              <a:rPr lang="en-US" sz="1000" dirty="0">
                <a:solidFill>
                  <a:srgbClr val="64748B"/>
                </a:solidFill>
              </a:rPr>
              <a:t>Extract sentiment and patterns from structured interview responses.</a:t>
            </a:r>
            <a:endParaRPr lang="en-US" sz="1000" dirty="0"/>
          </a:p>
        </p:txBody>
      </p:sp>
      <p:sp>
        <p:nvSpPr>
          <p:cNvPr id="32" name="Shape 30"/>
          <p:cNvSpPr/>
          <p:nvPr/>
        </p:nvSpPr>
        <p:spPr>
          <a:xfrm>
            <a:off x="6263640" y="1097280"/>
            <a:ext cx="2788920" cy="1389888"/>
          </a:xfrm>
          <a:prstGeom prst="rect">
            <a:avLst/>
          </a:prstGeom>
          <a:solidFill>
            <a:srgbClr val="F5F9FA"/>
          </a:solidFill>
          <a:ln w="12700">
            <a:solidFill>
              <a:srgbClr val="E2E8F0"/>
            </a:solidFill>
            <a:prstDash val="solid"/>
          </a:ln>
        </p:spPr>
      </p:sp>
      <p:sp>
        <p:nvSpPr>
          <p:cNvPr id="33" name="Shape 31"/>
          <p:cNvSpPr/>
          <p:nvPr/>
        </p:nvSpPr>
        <p:spPr>
          <a:xfrm>
            <a:off x="6263640" y="1097280"/>
            <a:ext cx="2788920" cy="347472"/>
          </a:xfrm>
          <a:prstGeom prst="rect">
            <a:avLst/>
          </a:prstGeom>
          <a:solidFill>
            <a:srgbClr val="0D1B3E"/>
          </a:solidFill>
          <a:ln w="12700">
            <a:solidFill>
              <a:srgbClr val="0D1B3E"/>
            </a:solidFill>
            <a:prstDash val="solid"/>
          </a:ln>
        </p:spPr>
      </p:sp>
      <p:sp>
        <p:nvSpPr>
          <p:cNvPr id="34" name="Text 32"/>
          <p:cNvSpPr/>
          <p:nvPr/>
        </p:nvSpPr>
        <p:spPr>
          <a:xfrm>
            <a:off x="6355080" y="1097280"/>
            <a:ext cx="2011680" cy="347472"/>
          </a:xfrm>
          <a:prstGeom prst="rect">
            <a:avLst/>
          </a:prstGeom>
          <a:noFill/>
          <a:ln/>
        </p:spPr>
        <p:txBody>
          <a:bodyPr wrap="square" lIns="0" tIns="0" rIns="0" bIns="0" rtlCol="0" anchor="ctr"/>
          <a:lstStyle/>
          <a:p>
            <a:pPr indent="0" marL="0">
              <a:buNone/>
            </a:pPr>
            <a:r>
              <a:rPr lang="en-US" sz="1200" b="1" dirty="0">
                <a:solidFill>
                  <a:srgbClr val="FFFFFF"/>
                </a:solidFill>
              </a:rPr>
              <a:t>Monte Carlo</a:t>
            </a:r>
            <a:endParaRPr lang="en-US" sz="1200" dirty="0"/>
          </a:p>
        </p:txBody>
      </p:sp>
      <p:sp>
        <p:nvSpPr>
          <p:cNvPr id="35" name="Shape 33"/>
          <p:cNvSpPr/>
          <p:nvPr/>
        </p:nvSpPr>
        <p:spPr>
          <a:xfrm>
            <a:off x="8138160" y="1143000"/>
            <a:ext cx="822960" cy="256032"/>
          </a:xfrm>
          <a:prstGeom prst="rect">
            <a:avLst/>
          </a:prstGeom>
          <a:solidFill>
            <a:srgbClr val="F4A261"/>
          </a:solidFill>
          <a:ln w="12700">
            <a:solidFill>
              <a:srgbClr val="F4A261"/>
            </a:solidFill>
            <a:prstDash val="solid"/>
          </a:ln>
        </p:spPr>
      </p:sp>
      <p:sp>
        <p:nvSpPr>
          <p:cNvPr id="36" name="Text 34"/>
          <p:cNvSpPr/>
          <p:nvPr/>
        </p:nvSpPr>
        <p:spPr>
          <a:xfrm>
            <a:off x="8138160" y="1143000"/>
            <a:ext cx="822960" cy="256032"/>
          </a:xfrm>
          <a:prstGeom prst="rect">
            <a:avLst/>
          </a:prstGeom>
          <a:noFill/>
          <a:ln/>
        </p:spPr>
        <p:txBody>
          <a:bodyPr wrap="square" lIns="0" tIns="0" rIns="0" bIns="0" rtlCol="0" anchor="ctr"/>
          <a:lstStyle/>
          <a:p>
            <a:pPr algn="ctr" indent="0" marL="0">
              <a:buNone/>
            </a:pPr>
            <a:r>
              <a:rPr lang="en-US" sz="800" b="1" dirty="0">
                <a:solidFill>
                  <a:srgbClr val="0D1B3E"/>
                </a:solidFill>
              </a:rPr>
              <a:t>Proposed</a:t>
            </a:r>
            <a:endParaRPr lang="en-US" sz="800" dirty="0"/>
          </a:p>
        </p:txBody>
      </p:sp>
      <p:sp>
        <p:nvSpPr>
          <p:cNvPr id="37" name="Text 35"/>
          <p:cNvSpPr/>
          <p:nvPr/>
        </p:nvSpPr>
        <p:spPr>
          <a:xfrm>
            <a:off x="6355080" y="1481328"/>
            <a:ext cx="2606040" cy="256032"/>
          </a:xfrm>
          <a:prstGeom prst="rect">
            <a:avLst/>
          </a:prstGeom>
          <a:noFill/>
          <a:ln/>
        </p:spPr>
        <p:txBody>
          <a:bodyPr wrap="square" lIns="0" tIns="0" rIns="0" bIns="0" rtlCol="0" anchor="ctr"/>
          <a:lstStyle/>
          <a:p>
            <a:pPr indent="0" marL="0">
              <a:buNone/>
            </a:pPr>
            <a:r>
              <a:rPr lang="en-US" sz="1100" b="1" dirty="0">
                <a:solidFill>
                  <a:srgbClr val="1E293B"/>
                </a:solidFill>
              </a:rPr>
              <a:t>Sensitivity Analysis</a:t>
            </a:r>
            <a:endParaRPr lang="en-US" sz="1100" dirty="0"/>
          </a:p>
        </p:txBody>
      </p:sp>
      <p:sp>
        <p:nvSpPr>
          <p:cNvPr id="38" name="Text 36"/>
          <p:cNvSpPr/>
          <p:nvPr/>
        </p:nvSpPr>
        <p:spPr>
          <a:xfrm>
            <a:off x="6355080" y="1773936"/>
            <a:ext cx="2606040" cy="658368"/>
          </a:xfrm>
          <a:prstGeom prst="rect">
            <a:avLst/>
          </a:prstGeom>
          <a:noFill/>
          <a:ln/>
        </p:spPr>
        <p:txBody>
          <a:bodyPr wrap="square" lIns="0" tIns="0" rIns="0" bIns="0" rtlCol="0" anchor="ctr"/>
          <a:lstStyle/>
          <a:p>
            <a:pPr indent="0" marL="0">
              <a:buNone/>
            </a:pPr>
            <a:r>
              <a:rPr lang="en-US" sz="1000" dirty="0">
                <a:solidFill>
                  <a:srgbClr val="64748B"/>
                </a:solidFill>
              </a:rPr>
              <a:t>Simulate variable cost fluctuations on net income — pro-labore identified as high-impact variable.</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B3E"/>
        </a:solidFill>
      </p:bgPr>
    </p:bg>
    <p:spTree>
      <p:nvGrpSpPr>
        <p:cNvPr id="1" name=""/>
        <p:cNvGrpSpPr/>
        <p:nvPr/>
      </p:nvGrpSpPr>
      <p:grpSpPr>
        <a:xfrm>
          <a:off x="0" y="0"/>
          <a:ext cx="0" cy="0"/>
          <a:chOff x="0" y="0"/>
          <a:chExt cx="0" cy="0"/>
        </a:xfrm>
      </p:grpSpPr>
      <p:sp>
        <p:nvSpPr>
          <p:cNvPr id="2" name="Shape 0"/>
          <p:cNvSpPr/>
          <p:nvPr/>
        </p:nvSpPr>
        <p:spPr>
          <a:xfrm>
            <a:off x="-1371600" y="-914400"/>
            <a:ext cx="5486400" cy="5486400"/>
          </a:xfrm>
          <a:prstGeom prst="ellipse">
            <a:avLst/>
          </a:prstGeom>
          <a:solidFill>
            <a:srgbClr val="028090">
              <a:alpha val="12000"/>
            </a:srgbClr>
          </a:solidFill>
          <a:ln w="12700">
            <a:solidFill>
              <a:srgbClr val="028090">
                <a:alpha val="12000"/>
              </a:srgbClr>
            </a:solidFill>
            <a:prstDash val="solid"/>
          </a:ln>
        </p:spPr>
      </p:sp>
      <p:sp>
        <p:nvSpPr>
          <p:cNvPr id="3" name="Shape 1"/>
          <p:cNvSpPr/>
          <p:nvPr/>
        </p:nvSpPr>
        <p:spPr>
          <a:xfrm>
            <a:off x="6858000" y="2743200"/>
            <a:ext cx="3657600" cy="3657600"/>
          </a:xfrm>
          <a:prstGeom prst="ellipse">
            <a:avLst/>
          </a:prstGeom>
          <a:solidFill>
            <a:srgbClr val="02C39A">
              <a:alpha val="16000"/>
            </a:srgbClr>
          </a:solidFill>
          <a:ln w="12700">
            <a:solidFill>
              <a:srgbClr val="02C39A">
                <a:alpha val="16000"/>
              </a:srgbClr>
            </a:solidFill>
            <a:prstDash val="solid"/>
          </a:ln>
        </p:spPr>
      </p:sp>
      <p:sp>
        <p:nvSpPr>
          <p:cNvPr id="4" name="Text 2"/>
          <p:cNvSpPr/>
          <p:nvPr/>
        </p:nvSpPr>
        <p:spPr>
          <a:xfrm>
            <a:off x="914400" y="594360"/>
            <a:ext cx="7315200" cy="347472"/>
          </a:xfrm>
          <a:prstGeom prst="rect">
            <a:avLst/>
          </a:prstGeom>
          <a:noFill/>
          <a:ln/>
        </p:spPr>
        <p:txBody>
          <a:bodyPr wrap="square" lIns="0" tIns="0" rIns="0" bIns="0" rtlCol="0" anchor="ctr"/>
          <a:lstStyle/>
          <a:p>
            <a:pPr algn="ctr" indent="0" marL="0">
              <a:buNone/>
            </a:pPr>
            <a:r>
              <a:rPr lang="en-US" sz="1300" b="1" spc="800" kern="0" dirty="0">
                <a:solidFill>
                  <a:srgbClr val="02C39A"/>
                </a:solidFill>
              </a:rPr>
              <a:t>CONCLUSION</a:t>
            </a:r>
            <a:endParaRPr lang="en-US" sz="1300" dirty="0"/>
          </a:p>
        </p:txBody>
      </p:sp>
      <p:sp>
        <p:nvSpPr>
          <p:cNvPr id="5" name="Text 3"/>
          <p:cNvSpPr/>
          <p:nvPr/>
        </p:nvSpPr>
        <p:spPr>
          <a:xfrm>
            <a:off x="914400" y="1005840"/>
            <a:ext cx="7315200" cy="731520"/>
          </a:xfrm>
          <a:prstGeom prst="rect">
            <a:avLst/>
          </a:prstGeom>
          <a:noFill/>
          <a:ln/>
        </p:spPr>
        <p:txBody>
          <a:bodyPr wrap="square" lIns="0" tIns="0" rIns="0" bIns="0" rtlCol="0" anchor="ctr"/>
          <a:lstStyle/>
          <a:p>
            <a:pPr algn="ctr" indent="0" marL="0">
              <a:buNone/>
            </a:pPr>
            <a:r>
              <a:rPr lang="en-US" sz="3400" b="1" dirty="0">
                <a:solidFill>
                  <a:srgbClr val="FFFFFF"/>
                </a:solidFill>
              </a:rPr>
              <a:t>Maturity Level 3 — Intermediate</a:t>
            </a:r>
            <a:endParaRPr lang="en-US" sz="3400" dirty="0"/>
          </a:p>
        </p:txBody>
      </p:sp>
      <p:sp>
        <p:nvSpPr>
          <p:cNvPr id="6" name="Shape 4"/>
          <p:cNvSpPr/>
          <p:nvPr/>
        </p:nvSpPr>
        <p:spPr>
          <a:xfrm>
            <a:off x="2560320" y="1828800"/>
            <a:ext cx="4023360" cy="36576"/>
          </a:xfrm>
          <a:prstGeom prst="rect">
            <a:avLst/>
          </a:prstGeom>
          <a:solidFill>
            <a:srgbClr val="028090"/>
          </a:solidFill>
          <a:ln w="12700">
            <a:solidFill>
              <a:srgbClr val="028090"/>
            </a:solidFill>
            <a:prstDash val="solid"/>
          </a:ln>
        </p:spPr>
      </p:sp>
      <p:sp>
        <p:nvSpPr>
          <p:cNvPr id="7" name="Text 5"/>
          <p:cNvSpPr/>
          <p:nvPr/>
        </p:nvSpPr>
        <p:spPr>
          <a:xfrm>
            <a:off x="731520" y="1965960"/>
            <a:ext cx="7680960" cy="1097280"/>
          </a:xfrm>
          <a:prstGeom prst="rect">
            <a:avLst/>
          </a:prstGeom>
          <a:noFill/>
          <a:ln/>
        </p:spPr>
        <p:txBody>
          <a:bodyPr wrap="square" lIns="0" tIns="0" rIns="0" bIns="0" rtlCol="0" anchor="ctr"/>
          <a:lstStyle/>
          <a:p>
            <a:pPr algn="ctr" indent="0" marL="0">
              <a:buNone/>
            </a:pPr>
            <a:r>
              <a:rPr lang="en-US" sz="1300" i="1" dirty="0">
                <a:solidFill>
                  <a:srgbClr val="AACDD6"/>
                </a:solidFill>
              </a:rPr>
              <a:t>The multidimensional diagnostic revealed that processes exist, but operate in a fragmented way.</a:t>
            </a:r>
            <a:endParaRPr lang="en-US" sz="1300" dirty="0"/>
          </a:p>
          <a:p>
            <a:pPr algn="ctr" indent="0" marL="0">
              <a:buNone/>
            </a:pPr>
            <a:r>
              <a:rPr lang="en-US" sz="1300" i="1" dirty="0">
                <a:solidFill>
                  <a:srgbClr val="AACDD6"/>
                </a:solidFill>
              </a:rPr>
              <a:t>The greatest opportunity lies in the data layer — the organization generates valuable information daily,</a:t>
            </a:r>
            <a:endParaRPr lang="en-US" sz="1300" dirty="0"/>
          </a:p>
          <a:p>
            <a:pPr algn="ctr" indent="0" marL="0">
              <a:buNone/>
            </a:pPr>
            <a:r>
              <a:rPr lang="en-US" sz="1300" i="1" dirty="0">
                <a:solidFill>
                  <a:srgbClr val="AACDD6"/>
                </a:solidFill>
              </a:rPr>
              <a:t>yet lacks the analytical structure to turn it into decisions.</a:t>
            </a:r>
            <a:endParaRPr lang="en-US" sz="1300" dirty="0"/>
          </a:p>
        </p:txBody>
      </p:sp>
      <p:sp>
        <p:nvSpPr>
          <p:cNvPr id="8" name="Shape 6"/>
          <p:cNvSpPr/>
          <p:nvPr/>
        </p:nvSpPr>
        <p:spPr>
          <a:xfrm>
            <a:off x="731520" y="3200400"/>
            <a:ext cx="7680960" cy="804672"/>
          </a:xfrm>
          <a:prstGeom prst="rect">
            <a:avLst/>
          </a:prstGeom>
          <a:solidFill>
            <a:srgbClr val="028090">
              <a:alpha val="12000"/>
            </a:srgbClr>
          </a:solidFill>
          <a:ln w="12700">
            <a:solidFill>
              <a:srgbClr val="028090">
                <a:alpha val="12000"/>
              </a:srgbClr>
            </a:solidFill>
            <a:prstDash val="solid"/>
          </a:ln>
        </p:spPr>
      </p:sp>
      <p:sp>
        <p:nvSpPr>
          <p:cNvPr id="9" name="Text 7"/>
          <p:cNvSpPr/>
          <p:nvPr/>
        </p:nvSpPr>
        <p:spPr>
          <a:xfrm>
            <a:off x="822960" y="3246120"/>
            <a:ext cx="7498080" cy="713232"/>
          </a:xfrm>
          <a:prstGeom prst="rect">
            <a:avLst/>
          </a:prstGeom>
          <a:noFill/>
          <a:ln/>
        </p:spPr>
        <p:txBody>
          <a:bodyPr wrap="square" lIns="0" tIns="0" rIns="0" bIns="0" rtlCol="0" anchor="ctr"/>
          <a:lstStyle/>
          <a:p>
            <a:pPr algn="ctr" indent="0" marL="0">
              <a:buNone/>
            </a:pPr>
            <a:r>
              <a:rPr lang="en-US" sz="1200" dirty="0">
                <a:solidFill>
                  <a:srgbClr val="FFFFFF"/>
                </a:solidFill>
              </a:rPr>
              <a:t>This case demonstrates that the real value of analytics is not in the tools, but in the ability to frame the right business problem, structure the data, and translate findings into actionable strategy.</a:t>
            </a:r>
            <a:endParaRPr lang="en-US" sz="1200" dirty="0"/>
          </a:p>
        </p:txBody>
      </p:sp>
      <p:sp>
        <p:nvSpPr>
          <p:cNvPr id="10" name="Text 8"/>
          <p:cNvSpPr/>
          <p:nvPr/>
        </p:nvSpPr>
        <p:spPr>
          <a:xfrm>
            <a:off x="914400" y="4187952"/>
            <a:ext cx="7315200" cy="384048"/>
          </a:xfrm>
          <a:prstGeom prst="rect">
            <a:avLst/>
          </a:prstGeom>
          <a:noFill/>
          <a:ln/>
        </p:spPr>
        <p:txBody>
          <a:bodyPr wrap="square" lIns="0" tIns="0" rIns="0" bIns="0" rtlCol="0" anchor="ctr"/>
          <a:lstStyle/>
          <a:p>
            <a:pPr algn="ctr" indent="0" marL="0">
              <a:buNone/>
            </a:pPr>
            <a:r>
              <a:rPr lang="en-US" sz="1100" b="1" dirty="0">
                <a:solidFill>
                  <a:srgbClr val="02C39A"/>
                </a:solidFill>
              </a:rPr>
              <a:t>Open to internship, CPT, and entry-level opportunities in Data Analytics, Business Intelligence &amp; Financial Data Analysis.</a:t>
            </a:r>
            <a:endParaRPr lang="en-US" sz="1100" dirty="0"/>
          </a:p>
        </p:txBody>
      </p:sp>
      <p:sp>
        <p:nvSpPr>
          <p:cNvPr id="11" name="Text 9"/>
          <p:cNvSpPr/>
          <p:nvPr/>
        </p:nvSpPr>
        <p:spPr>
          <a:xfrm>
            <a:off x="914400" y="4645152"/>
            <a:ext cx="7315200" cy="256032"/>
          </a:xfrm>
          <a:prstGeom prst="rect">
            <a:avLst/>
          </a:prstGeom>
          <a:noFill/>
          <a:ln/>
        </p:spPr>
        <p:txBody>
          <a:bodyPr wrap="square" lIns="0" tIns="0" rIns="0" bIns="0" rtlCol="0" anchor="ctr"/>
          <a:lstStyle/>
          <a:p>
            <a:pPr algn="ctr" indent="0" marL="0">
              <a:buNone/>
            </a:pPr>
            <a:r>
              <a:rPr lang="en-US" sz="1000" dirty="0">
                <a:solidFill>
                  <a:srgbClr val="64748B"/>
                </a:solidFill>
              </a:rPr>
              <a:t>Brazilian Licensed Accountant (CRC/CFC)  ·  Master's Student in Big Data Analytics  ·  May 2026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2026-05-11T23:25:16Z</dcterms:created>
  <dcterms:modified xsi:type="dcterms:W3CDTF">2026-05-11T23:25:16Z</dcterms:modified>
</cp:coreProperties>
</file>